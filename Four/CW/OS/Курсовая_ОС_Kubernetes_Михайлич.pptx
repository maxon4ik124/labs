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0715-3A31-D6D5-8F1E-181E11B7E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73A19-1424-1083-ED4C-30AAC61BB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C33A8-B594-BFA7-4F76-C3A1247E7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A5F3-C1F9-4EFD-A57B-5B31941A08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15BD1-E3B7-CD3E-DEAE-7B09F0A65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0EBD8-0CF5-BC76-D04E-4E7CC764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B66E-039A-4127-AFB0-99EEF48A7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72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6531-41F9-107D-37F7-0D351696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2596B-A9B9-0419-11D2-F09B31438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80FA4-7F47-A62A-F26F-9B797CC79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A5F3-C1F9-4EFD-A57B-5B31941A08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3F6A0-8E66-3F94-10BD-D5384F2E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E040F-DF4B-8D5D-BCEE-8E470441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B66E-039A-4127-AFB0-99EEF48A7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090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B9FF-140F-8974-D146-AB2D0EA2A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DB6D7-ED1E-1AF6-F003-0EF5BBB35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525F8-F5F4-C7BE-7386-BD6E10D85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A5F3-C1F9-4EFD-A57B-5B31941A08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02D07-DE49-DA0D-53D3-B8BF1AEB2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0A34F-3D54-16C9-B1E6-127656E6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B66E-039A-4127-AFB0-99EEF48A7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08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A842-ABBB-F1CC-B60C-C8E5C621D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7234A-7C4D-EFBE-B542-38DFD49D9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0B681-26F7-AC24-9D2A-26AF57DE8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C7E8C-0EC6-5643-6305-E6E93600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A5F3-C1F9-4EFD-A57B-5B31941A08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56D2E-F8D6-5058-9B4F-0FDC7AB26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CD91F-5D29-7AF4-1057-F00EE7D0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B66E-039A-4127-AFB0-99EEF48A7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40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91B0-B3BA-2BB9-BEFB-587DA7CE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83AA0-8184-1A89-C30A-F167AD3DF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D8B98-0A78-970A-18FF-184EC5E61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1FA3E4-7620-3101-FE7A-62F665509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93304-85A7-3FBC-3949-521155C78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164D63-DFA8-417A-BE1B-01AB81CD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A5F3-C1F9-4EFD-A57B-5B31941A08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FBB27A-C877-0963-D7BB-0913A5691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394F51-0CA0-806F-682D-A0AA5BBE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B66E-039A-4127-AFB0-99EEF48A7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782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21D9-0384-C214-29A6-DED63C96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27C5A-2BA7-6B77-32A9-3231EC0F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A5F3-C1F9-4EFD-A57B-5B31941A08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7A88F-873F-01E7-A97D-782744D7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96D28-279C-B780-D2E9-30490296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B66E-039A-4127-AFB0-99EEF48A7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9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F80AF-8074-B457-85DA-35E95D0F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A5F3-C1F9-4EFD-A57B-5B31941A08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A513D-15A6-C96D-DA94-6CDA77E3F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CA7BC-3305-6AC7-1590-49148B5B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B66E-039A-4127-AFB0-99EEF48A7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78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124D-2219-0A50-D800-8A724687B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22804-DB2E-BB89-DDAE-1EA4062C3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363BD-4408-1D64-9E8F-D2A68C5C0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37500-EFC9-0947-F499-05564C7A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A5F3-C1F9-4EFD-A57B-5B31941A08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BBF5-F252-3284-EECB-A5018026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CE3ED-E959-FD45-2DD6-D0900376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B66E-039A-4127-AFB0-99EEF48A7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21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29D5-CCAF-4172-2942-98C03AA0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CC068A-14CE-CB28-6398-E096273B4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0B1A8-323A-3CEC-BA0E-D0D7C637F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DF255-6B5B-A90B-6B95-E6820D745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A5F3-C1F9-4EFD-A57B-5B31941A08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B0B5C-B834-E5D1-8992-8D3DBEFF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563CB-8367-D0AF-46A0-20DEE72A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B66E-039A-4127-AFB0-99EEF48A7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6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6984-A3C5-0137-DFF0-31EE4B404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F72A2-B515-0FFA-BF03-9020B0C4B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D8AD6-AA55-FF26-C8D4-69511360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A5F3-C1F9-4EFD-A57B-5B31941A08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B68A-55A3-B05E-E575-C25BACED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F1D40-0CD1-93B7-5651-716EB1C1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B66E-039A-4127-AFB0-99EEF48A7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68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8E3893-522D-7343-2B33-9CA6E9924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37A37-225D-E7A9-FE40-E6E28F60D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0A0ED-B99E-6110-F8E1-21F56F60C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A5F3-C1F9-4EFD-A57B-5B31941A08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DF2F5-84D0-7450-AE7C-F020D30F1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05203-63CC-C699-DA28-3C3A3D30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B66E-039A-4127-AFB0-99EEF48A7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96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5000"/>
                <a:lumOff val="95000"/>
              </a:schemeClr>
            </a:gs>
            <a:gs pos="93000">
              <a:schemeClr val="bg2">
                <a:lumMod val="7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6BC930-A438-1A0C-019D-0C4B3E864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0F34D-CAF4-129A-5195-4282B510F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2893B-DB1C-55BE-F58E-A8D117885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AA5F3-C1F9-4EFD-A57B-5B31941A08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389C9-C29C-9779-F668-3FF2CB66C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C75C0-2D87-4B06-6543-7AE8E44E1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6B66E-039A-4127-AFB0-99EEF48A7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4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23F11-402F-D409-2E99-11385AD3D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355272"/>
            <a:ext cx="9144000" cy="700553"/>
          </a:xfrm>
        </p:spPr>
        <p:txBody>
          <a:bodyPr>
            <a:normAutofit fontScale="90000"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Контейнеризация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endParaRPr lang="ru-RU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37084-1B51-853B-18E1-D84EAE014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0036" y="3583564"/>
            <a:ext cx="9499599" cy="2817235"/>
          </a:xfrm>
        </p:spPr>
        <p:txBody>
          <a:bodyPr wrap="square" tIns="36000" bIns="0">
            <a:norm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5151003/40002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Михайлич М. И</a:t>
            </a:r>
          </a:p>
          <a:p>
            <a:pPr algn="l">
              <a:spcBef>
                <a:spcPts val="600"/>
              </a:spcBef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</a:t>
            </a:r>
          </a:p>
          <a:p>
            <a:pPr algn="l">
              <a:spcBef>
                <a:spcPts val="4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Ассистент						           Югай П. 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5BA16-EDC5-53CA-ACCE-8EBC8F5C1993}"/>
              </a:ext>
            </a:extLst>
          </p:cNvPr>
          <p:cNvSpPr txBox="1"/>
          <p:nvPr/>
        </p:nvSpPr>
        <p:spPr>
          <a:xfrm>
            <a:off x="2905575" y="160922"/>
            <a:ext cx="63808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Санкт-Петербургский Политехнический Университет Петра Великого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компьютерных наук и кибербезопасности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938641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chemeClr val="accent1">
                <a:lumMod val="5000"/>
                <a:lumOff val="95000"/>
              </a:schemeClr>
            </a:gs>
            <a:gs pos="87000">
              <a:schemeClr val="bg2">
                <a:lumMod val="9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8E8F-8F0B-A482-A463-0B73CE93D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6857F-0AA0-DA61-EDE4-C65A2D910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цель, задачи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компоненты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Вопросы безопасности контейнеризации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CVE-2020-8554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кластера для исследования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CVE-2020-8554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реализация уязвимости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Меры защиты от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CVE-2020-8554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983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5000"/>
                <a:lumOff val="95000"/>
              </a:schemeClr>
            </a:gs>
            <a:gs pos="93000">
              <a:schemeClr val="bg2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D71A-576C-92CE-37CC-975FD13D4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75" y="-24259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цель, задачи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44382-9EBE-503E-95D0-EE8317FC2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7"/>
            <a:ext cx="5181600" cy="4486275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основным средством оркестровки и управления кластерами контейнеров.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Оркестровка позволяет легко масштабировать системы из нескольких приложений.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доступа внутри кластера могут привести к утечке данных, перехвату внутреннего трафика и нанести серьезный вред системе.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продемонстрировать учебный сценарий экплуатации уязвимости</a:t>
            </a:r>
          </a:p>
          <a:p>
            <a:pPr marL="0" indent="0">
              <a:buNone/>
            </a:pP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04D97B-9281-5460-21E1-801AD7AAF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7"/>
            <a:ext cx="5181600" cy="44862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Рассмотреть архитектуру и основные компоненты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возможности оркестровки контейнеров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стандартные риски безопасности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Смоделировать учебный сценарий эксплуатации уязвимости для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File:Kubernetes logo without workmark.svg - Wikimedia Commons">
            <a:extLst>
              <a:ext uri="{FF2B5EF4-FFF2-40B4-BE49-F238E27FC236}">
                <a16:creationId xmlns:a16="http://schemas.microsoft.com/office/drawing/2014/main" id="{54BCA812-BEE9-F760-81AF-25789A296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1778" y="144969"/>
            <a:ext cx="1281193" cy="124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7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9000">
              <a:schemeClr val="accent1">
                <a:lumMod val="5000"/>
                <a:lumOff val="95000"/>
              </a:schemeClr>
            </a:gs>
            <a:gs pos="93000">
              <a:schemeClr val="bg2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0C4E-6F00-8473-74B3-4DE95E252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692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компоненты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1BEEE-0D09-BBA3-226D-8CBCEE6B3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23" y="1080931"/>
            <a:ext cx="2746972" cy="609757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2B389F-12AE-3EA3-E1C6-278344AF1650}"/>
              </a:ext>
            </a:extLst>
          </p:cNvPr>
          <p:cNvSpPr/>
          <p:nvPr/>
        </p:nvSpPr>
        <p:spPr>
          <a:xfrm>
            <a:off x="1186004" y="1865014"/>
            <a:ext cx="3775295" cy="13255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plane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B306E-9621-D20A-1AE5-7DEB29993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97" y="2330842"/>
            <a:ext cx="781050" cy="657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2F7AC3-7832-06D6-9704-8671D5990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621" y="2273692"/>
            <a:ext cx="933450" cy="714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1C8ACA-0A88-F5FC-315F-2F3F3F891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895" y="2273692"/>
            <a:ext cx="762000" cy="6953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82CFAA-BF98-221A-FF0B-A21C404CB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688" y="2311791"/>
            <a:ext cx="695325" cy="619125"/>
          </a:xfrm>
          <a:prstGeom prst="rect">
            <a:avLst/>
          </a:prstGeom>
        </p:spPr>
      </p:pic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C9D37CF-15EA-E5AE-EFCE-4A1B4C152FA2}"/>
              </a:ext>
            </a:extLst>
          </p:cNvPr>
          <p:cNvCxnSpPr>
            <a:cxnSpLocks/>
            <a:endCxn id="4" idx="2"/>
          </p:cNvCxnSpPr>
          <p:nvPr/>
        </p:nvCxnSpPr>
        <p:spPr>
          <a:xfrm rot="5400000" flipH="1" flipV="1">
            <a:off x="1983666" y="3315760"/>
            <a:ext cx="1215168" cy="9648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F7A0F73-3D69-EB9B-3E4E-8A2E567054F4}"/>
              </a:ext>
            </a:extLst>
          </p:cNvPr>
          <p:cNvCxnSpPr>
            <a:cxnSpLocks/>
            <a:endCxn id="4" idx="2"/>
          </p:cNvCxnSpPr>
          <p:nvPr/>
        </p:nvCxnSpPr>
        <p:spPr>
          <a:xfrm rot="16200000" flipV="1">
            <a:off x="3025897" y="3238332"/>
            <a:ext cx="1215168" cy="11196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227651E-FB54-0C2E-CF94-72EFE164ED4E}"/>
              </a:ext>
            </a:extLst>
          </p:cNvPr>
          <p:cNvGrpSpPr/>
          <p:nvPr/>
        </p:nvGrpSpPr>
        <p:grpSpPr>
          <a:xfrm>
            <a:off x="1474047" y="4405745"/>
            <a:ext cx="1311563" cy="2309091"/>
            <a:chOff x="1474047" y="4405745"/>
            <a:chExt cx="1311563" cy="2309091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53B0D7C-FC05-DDB2-33CE-DF5535357929}"/>
                </a:ext>
              </a:extLst>
            </p:cNvPr>
            <p:cNvSpPr/>
            <p:nvPr/>
          </p:nvSpPr>
          <p:spPr>
            <a:xfrm>
              <a:off x="1474047" y="4405745"/>
              <a:ext cx="1311563" cy="2309091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</a:t>
              </a:r>
              <a:endPara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DC6C2F4-40C0-92D7-96DB-D47D87C9D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39304" y="4841586"/>
              <a:ext cx="752475" cy="6477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357838E-ED34-681C-1DE2-14B328857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34540" y="5489286"/>
              <a:ext cx="790575" cy="6858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75FAFD5-893E-3641-7A8D-A9318B014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9049" y="6136986"/>
              <a:ext cx="962201" cy="532647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38BE41-E868-222C-65DB-9769B854C217}"/>
              </a:ext>
            </a:extLst>
          </p:cNvPr>
          <p:cNvGrpSpPr/>
          <p:nvPr/>
        </p:nvGrpSpPr>
        <p:grpSpPr>
          <a:xfrm>
            <a:off x="3556504" y="4405745"/>
            <a:ext cx="1311563" cy="2309091"/>
            <a:chOff x="1474047" y="4405745"/>
            <a:chExt cx="1311563" cy="2309091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C6FCACA-E55C-0109-46A6-604BE50CF78A}"/>
                </a:ext>
              </a:extLst>
            </p:cNvPr>
            <p:cNvSpPr/>
            <p:nvPr/>
          </p:nvSpPr>
          <p:spPr>
            <a:xfrm>
              <a:off x="1474047" y="4405745"/>
              <a:ext cx="1311563" cy="2309091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</a:t>
              </a:r>
              <a:endPara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9F0581D-7733-25B9-1708-A2A0AFFB4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39304" y="4841586"/>
              <a:ext cx="752475" cy="6477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B87ED5F3-2204-B139-5FD5-F786B2465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34540" y="5489286"/>
              <a:ext cx="790575" cy="68580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1E4D59D-BAE3-9BD5-493E-FF7BB279E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9049" y="6136986"/>
              <a:ext cx="962201" cy="532647"/>
            </a:xfrm>
            <a:prstGeom prst="rect">
              <a:avLst/>
            </a:prstGeom>
          </p:spPr>
        </p:pic>
      </p:grp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BA058AE7-A1A3-0676-AB17-6733E357C5EE}"/>
              </a:ext>
            </a:extLst>
          </p:cNvPr>
          <p:cNvSpPr txBox="1">
            <a:spLocks/>
          </p:cNvSpPr>
          <p:nvPr/>
        </p:nvSpPr>
        <p:spPr>
          <a:xfrm>
            <a:off x="5401741" y="1080930"/>
            <a:ext cx="6586860" cy="563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минимальная единица запуска контейнера.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стабильный доступ к Pod’ам внутри кластера.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внешний HTTP/HTTPS-доступ к сервисам.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ConfigMap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хранение обычных настроек приложения.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хранение паролей, токенов, ключей.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хранилище данных для контейнеров.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управление stateless-приложениями и обновлениями.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управление stateful-приложениями с постоянными именами и хранилищем.</a:t>
            </a: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7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4431-2A32-9DA5-DBF1-C16D5FC01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1410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Вопросы безопасности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739EC-892E-E093-9F05-4E89B5154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62" y="1468714"/>
            <a:ext cx="5189376" cy="5862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Механизмы безопасности:</a:t>
            </a:r>
          </a:p>
          <a:p>
            <a:pPr marL="0" indent="0">
              <a:buNone/>
            </a:pP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RBAC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ограничение прав доступа пользователей и сервисов.</a:t>
            </a: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NetworkPolicy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контроль сетевого трафика между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для закрытой информации: пароли, токены, ключи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ServiceAccount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учетные записи для каждого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изоляция ресурсов внутри кластера</a:t>
            </a:r>
          </a:p>
          <a:p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880FE-04B6-0E84-9D80-3F60B6050A8F}"/>
              </a:ext>
            </a:extLst>
          </p:cNvPr>
          <p:cNvSpPr txBox="1"/>
          <p:nvPr/>
        </p:nvSpPr>
        <p:spPr>
          <a:xfrm>
            <a:off x="5968482" y="1468714"/>
            <a:ext cx="622351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Потенциальные риски:</a:t>
            </a:r>
          </a:p>
          <a:p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Server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server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привести к контролю над кластером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Некорректный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RBAC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повышение привилегий пользователя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Ingress annotations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опасных аннотаций в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Ingress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приводит к некоректной работе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Ingress-nginx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ExternalIPs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внешних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внедрить посторонние структуры в трафик кластера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01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1">
                <a:lumMod val="5000"/>
                <a:lumOff val="95000"/>
              </a:schemeClr>
            </a:gs>
            <a:gs pos="93000">
              <a:schemeClr val="bg2">
                <a:lumMod val="75000"/>
              </a:schemeClr>
            </a:gs>
          </a:gsLst>
          <a:lin ang="7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FE42-84AF-A96D-E068-2D93C92DA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06" y="-278687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задача – С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VE-2020-8554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74535-AC5D-A56C-707B-1E57172C5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725" y="1046876"/>
            <a:ext cx="11786119" cy="5624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часть:</a:t>
            </a: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(2020-8554) для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продемонстрировать ее эксплуатацию.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причины появления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CVE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вероятные последствия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Рассмотреть методы защиты.</a:t>
            </a: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Введение: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CVE-2020-8554 –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уязвимость, связанная с полем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spec.externalIPs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компоненте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Данное поле хранит внешние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-адреса, которые не управляются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Основной риск заключается в перенаправлении внутреннего трафика, идущего на данный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внедрении вредоносных модулей на узлах маршрутизации трафика, что создает риск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MITM-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атак.</a:t>
            </a: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CVSS: 6.3 (Medium)</a:t>
            </a: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Уязвимость признана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design-flaw (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ошибкой дизайна)</a:t>
            </a:r>
          </a:p>
        </p:txBody>
      </p:sp>
    </p:spTree>
    <p:extLst>
      <p:ext uri="{BB962C8B-B14F-4D97-AF65-F5344CB8AC3E}">
        <p14:creationId xmlns:p14="http://schemas.microsoft.com/office/powerpoint/2010/main" val="3683825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C489-30C7-F1B9-448D-80CF48777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9130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кластера для исследования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ADBF5-1BAE-7365-DF93-F7EA96753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74" y="849744"/>
            <a:ext cx="5837382" cy="58650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Подготовленные ресурсы:    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20.04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Minikube-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 с данной структурой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Control-plane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Ноды – атакующий и жертва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жертвы, создающий контейнер, отправляющий запрос через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curl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RBAC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конфигурация, для создания роли атакующего, имеющего полный доступ к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pod,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configmap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deployment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внутри своего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жертвы с авторизационным токеном, который будет использован для запроса и скомпрометирован.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967FDA-4618-0977-B15E-D2BB602C6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477" y="642851"/>
            <a:ext cx="5106439" cy="2786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72EEAC-87D6-7109-D9FB-1EA2FE3BE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470" y="3607042"/>
            <a:ext cx="3956454" cy="28185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8F2341-29E3-4618-AFDA-809F2DE1D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387" y="4863957"/>
            <a:ext cx="2904287" cy="228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054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9000">
              <a:schemeClr val="accent1">
                <a:lumMod val="5000"/>
                <a:lumOff val="95000"/>
              </a:schemeClr>
            </a:gs>
            <a:gs pos="79000">
              <a:schemeClr val="bg2">
                <a:lumMod val="75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70F52-D191-4189-C28E-628E268C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7" y="-424872"/>
            <a:ext cx="11242964" cy="1690688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реализация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DE591-020D-A608-ED1E-ACD1A5409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1" y="988291"/>
            <a:ext cx="5551053" cy="5188672"/>
          </a:xfrm>
        </p:spPr>
        <p:txBody>
          <a:bodyPr>
            <a:normAutofit/>
          </a:bodyPr>
          <a:lstStyle/>
          <a:p>
            <a:pPr marL="180000" indent="-514350">
              <a:buFont typeface="+mj-lt"/>
              <a:buAutoNum type="arabicPeriod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перехватчика</a:t>
            </a:r>
          </a:p>
          <a:p>
            <a:pPr marL="457200" lvl="1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Создано приложение-перехватчик на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которое принимает запросы на внешний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в логи выводит содержимое запроса, а также возвращает код 200. Далее был собран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контейнер с перехватчиком и развернут на ноде атакующего.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000" indent="-514350">
              <a:buFont typeface="+mj-lt"/>
              <a:buAutoNum type="arabicPeriod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внешнего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лица атакующего было добавлено обновление в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внедряющее внешний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котором будет развернут перехватчик.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000" indent="-514350">
              <a:buFont typeface="+mj-lt"/>
              <a:buAutoNum type="arabicPeriod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на внешний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жертвы</a:t>
            </a:r>
          </a:p>
          <a:p>
            <a:pPr marL="457200" lvl="1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Далее жертва делает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через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curl,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указывая свой токен авторизации. Перехватчик принимает запрос, выводит все тело запроса и возвращает код 200.</a:t>
            </a:r>
          </a:p>
          <a:p>
            <a:pPr marL="180000" indent="-514350">
              <a:buFont typeface="+mj-lt"/>
              <a:buAutoNum type="arabicPeriod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Компрометация токена жертвы</a:t>
            </a:r>
          </a:p>
          <a:p>
            <a:pPr marL="457200" lvl="1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запроса жертвы, атакующий поднимает логи перехватчика, где в открытом виде лежит токен авторизации. 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B2E1C-FB36-04B8-A843-354C6F001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237" y="1468981"/>
            <a:ext cx="5652654" cy="1369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77CE5A-12D8-E783-D871-DDBDC5CF7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838" y="4569280"/>
            <a:ext cx="5551053" cy="163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15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66000">
              <a:schemeClr val="bg2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A0DE-B487-6255-1726-9DF423B21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82937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Меры защиты от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CVE-2020-8554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C3347-26B2-09A6-767A-664830348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03" y="1562076"/>
            <a:ext cx="6151418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политики доступа:</a:t>
            </a:r>
          </a:p>
          <a:p>
            <a:pPr marL="457200" lvl="1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начала необходимо удалить существующие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externalIPs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Затем была добавлена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ValidatingAdmissionPolicy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которая запрещает добавление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externalIPs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применения данной политики была попытка повторно создать внешний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поле атакующего, которая была отклонена из за введеной политики.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63DAA1-7204-D0A3-820A-9D1883016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504" y="1533223"/>
            <a:ext cx="5325993" cy="24565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F373F5-BBE8-2DCA-7E73-1CD74B5BA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602" y="4922368"/>
            <a:ext cx="6777804" cy="74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02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6000">
              <a:schemeClr val="accent1">
                <a:lumMod val="5000"/>
                <a:lumOff val="95000"/>
              </a:schemeClr>
            </a:gs>
            <a:gs pos="82000">
              <a:schemeClr val="bg2">
                <a:lumMod val="7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A2E5-3470-47B4-6432-9D283850A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2872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эксперимента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E6945-8BCC-DB97-D35A-1A9895FA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796413"/>
            <a:ext cx="11224447" cy="538055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Эксплуатация уязвимости: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MITM-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уязвимость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CVE-2020-8554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Подтверждена опасонсть наличия внешних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Показано отсутсвие проверки в сторону внешнего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 стороны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 нарушение конфидециальности авторизационного токена жертвы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от уязвимости: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Была добавлена политика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ValidatingAdmissionPolicy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запрещающая создание внешних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Повторная попытка создания внешнего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была отклонена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Эксплуатация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CVE-2020-8554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введении политики не подтвердилась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Экперимент показал, что отсутствие проверки наличия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Service,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внедрять произвольные модули и реализовывать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MTIM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атаки, а также, что проверять наличие внешних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политика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ValidatingAdmissionPolicy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807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0">
              <a:schemeClr val="accent1">
                <a:lumMod val="5000"/>
                <a:lumOff val="95000"/>
              </a:schemeClr>
            </a:gs>
            <a:gs pos="0">
              <a:schemeClr val="bg2">
                <a:lumMod val="75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A620F-877A-8B32-507B-2FC2E3969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990" y="2393101"/>
            <a:ext cx="10515600" cy="1325563"/>
          </a:xfrm>
        </p:spPr>
        <p:txBody>
          <a:bodyPr>
            <a:normAutofit/>
          </a:bodyPr>
          <a:lstStyle/>
          <a:p>
            <a:r>
              <a:rPr 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01250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766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Wingdings</vt:lpstr>
      <vt:lpstr>Office Theme</vt:lpstr>
      <vt:lpstr>Контейнеризация Kubernetes</vt:lpstr>
      <vt:lpstr>Содержание</vt:lpstr>
      <vt:lpstr>Актуальность, цель, задачи</vt:lpstr>
      <vt:lpstr>Основные компоненты Kubernetes </vt:lpstr>
      <vt:lpstr>Вопросы безопасности Kubernetes</vt:lpstr>
      <vt:lpstr>Практическая задача – СVE-2020-8554</vt:lpstr>
      <vt:lpstr>Создание кластера для исследования</vt:lpstr>
      <vt:lpstr>Практическая реализация</vt:lpstr>
      <vt:lpstr>Меры защиты от CVE-2020-8554</vt:lpstr>
      <vt:lpstr>Результаты эксперимента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Maks</dc:creator>
  <cp:lastModifiedBy>Maks</cp:lastModifiedBy>
  <cp:revision>14</cp:revision>
  <dcterms:created xsi:type="dcterms:W3CDTF">2026-06-09T19:26:25Z</dcterms:created>
  <dcterms:modified xsi:type="dcterms:W3CDTF">2026-06-09T22:41:14Z</dcterms:modified>
</cp:coreProperties>
</file>