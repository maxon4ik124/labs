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58" r:id="rId6"/>
    <p:sldId id="259" r:id="rId7"/>
    <p:sldId id="264" r:id="rId8"/>
    <p:sldId id="265" r:id="rId9"/>
    <p:sldId id="266" r:id="rId10"/>
    <p:sldId id="267" r:id="rId11"/>
    <p:sldId id="263" r:id="rId12"/>
    <p:sldId id="260" r:id="rId1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EF9AC-83B0-D0AC-16D1-1C9EC34B7F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RU"/>
          </a:p>
        </p:txBody>
      </p:sp>
      <p:sp>
        <p:nvSpPr>
          <p:cNvPr id="3" name="Subtitle 2">
            <a:extLst>
              <a:ext uri="{FF2B5EF4-FFF2-40B4-BE49-F238E27FC236}">
                <a16:creationId xmlns:a16="http://schemas.microsoft.com/office/drawing/2014/main" id="{3F700F38-09E9-DD8F-ED4F-70ADACF27F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RU"/>
          </a:p>
        </p:txBody>
      </p:sp>
      <p:sp>
        <p:nvSpPr>
          <p:cNvPr id="4" name="Date Placeholder 3">
            <a:extLst>
              <a:ext uri="{FF2B5EF4-FFF2-40B4-BE49-F238E27FC236}">
                <a16:creationId xmlns:a16="http://schemas.microsoft.com/office/drawing/2014/main" id="{3A7723D6-EE81-CB02-3015-718506A8D6F4}"/>
              </a:ext>
            </a:extLst>
          </p:cNvPr>
          <p:cNvSpPr>
            <a:spLocks noGrp="1"/>
          </p:cNvSpPr>
          <p:nvPr>
            <p:ph type="dt" sz="half" idx="10"/>
          </p:nvPr>
        </p:nvSpPr>
        <p:spPr/>
        <p:txBody>
          <a:bodyPr/>
          <a:lstStyle/>
          <a:p>
            <a:fld id="{18F02BAC-DDA6-41AB-A76C-5743C8C373B1}" type="datetimeFigureOut">
              <a:rPr lang="ru-RU" smtClean="0"/>
              <a:t>01.10.2026</a:t>
            </a:fld>
            <a:endParaRPr lang="ru-RU"/>
          </a:p>
        </p:txBody>
      </p:sp>
      <p:sp>
        <p:nvSpPr>
          <p:cNvPr id="5" name="Footer Placeholder 4">
            <a:extLst>
              <a:ext uri="{FF2B5EF4-FFF2-40B4-BE49-F238E27FC236}">
                <a16:creationId xmlns:a16="http://schemas.microsoft.com/office/drawing/2014/main" id="{2DD36D2A-910C-3C3B-5085-4503D7C83AB9}"/>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F17F1B14-CAA7-4213-C883-507BA4881D26}"/>
              </a:ext>
            </a:extLst>
          </p:cNvPr>
          <p:cNvSpPr>
            <a:spLocks noGrp="1"/>
          </p:cNvSpPr>
          <p:nvPr>
            <p:ph type="sldNum" sz="quarter" idx="12"/>
          </p:nvPr>
        </p:nvSpPr>
        <p:spPr/>
        <p:txBody>
          <a:bodyPr/>
          <a:lstStyle/>
          <a:p>
            <a:fld id="{D1BA955C-D44C-4B1F-9C93-AB049A08F23D}" type="slidenum">
              <a:rPr lang="ru-RU" smtClean="0"/>
              <a:t>‹#›</a:t>
            </a:fld>
            <a:endParaRPr lang="ru-RU"/>
          </a:p>
        </p:txBody>
      </p:sp>
    </p:spTree>
    <p:extLst>
      <p:ext uri="{BB962C8B-B14F-4D97-AF65-F5344CB8AC3E}">
        <p14:creationId xmlns:p14="http://schemas.microsoft.com/office/powerpoint/2010/main" val="2986292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08214-47D6-43C3-A951-2468D807A260}"/>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BE06324D-13CE-F753-7FBA-7548322F6A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87B0A2F8-945F-F242-244F-79F3567D18F6}"/>
              </a:ext>
            </a:extLst>
          </p:cNvPr>
          <p:cNvSpPr>
            <a:spLocks noGrp="1"/>
          </p:cNvSpPr>
          <p:nvPr>
            <p:ph type="dt" sz="half" idx="10"/>
          </p:nvPr>
        </p:nvSpPr>
        <p:spPr/>
        <p:txBody>
          <a:bodyPr/>
          <a:lstStyle/>
          <a:p>
            <a:fld id="{18F02BAC-DDA6-41AB-A76C-5743C8C373B1}" type="datetimeFigureOut">
              <a:rPr lang="ru-RU" smtClean="0"/>
              <a:t>01.10.2026</a:t>
            </a:fld>
            <a:endParaRPr lang="ru-RU"/>
          </a:p>
        </p:txBody>
      </p:sp>
      <p:sp>
        <p:nvSpPr>
          <p:cNvPr id="5" name="Footer Placeholder 4">
            <a:extLst>
              <a:ext uri="{FF2B5EF4-FFF2-40B4-BE49-F238E27FC236}">
                <a16:creationId xmlns:a16="http://schemas.microsoft.com/office/drawing/2014/main" id="{0760F494-63DD-6D87-11AB-25897F21D85B}"/>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10B1A798-077A-FC75-FBAA-F24923A7C649}"/>
              </a:ext>
            </a:extLst>
          </p:cNvPr>
          <p:cNvSpPr>
            <a:spLocks noGrp="1"/>
          </p:cNvSpPr>
          <p:nvPr>
            <p:ph type="sldNum" sz="quarter" idx="12"/>
          </p:nvPr>
        </p:nvSpPr>
        <p:spPr/>
        <p:txBody>
          <a:bodyPr/>
          <a:lstStyle/>
          <a:p>
            <a:fld id="{D1BA955C-D44C-4B1F-9C93-AB049A08F23D}" type="slidenum">
              <a:rPr lang="ru-RU" smtClean="0"/>
              <a:t>‹#›</a:t>
            </a:fld>
            <a:endParaRPr lang="ru-RU"/>
          </a:p>
        </p:txBody>
      </p:sp>
    </p:spTree>
    <p:extLst>
      <p:ext uri="{BB962C8B-B14F-4D97-AF65-F5344CB8AC3E}">
        <p14:creationId xmlns:p14="http://schemas.microsoft.com/office/powerpoint/2010/main" val="3920344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3E0AD-3F7E-909B-8C67-5CC58C2F5D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RU"/>
          </a:p>
        </p:txBody>
      </p:sp>
      <p:sp>
        <p:nvSpPr>
          <p:cNvPr id="3" name="Text Placeholder 2">
            <a:extLst>
              <a:ext uri="{FF2B5EF4-FFF2-40B4-BE49-F238E27FC236}">
                <a16:creationId xmlns:a16="http://schemas.microsoft.com/office/drawing/2014/main" id="{270D4A96-7215-A8D7-0E2E-A65466F8E3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EFDCB2-BD21-FD1F-A862-C196E64E23DC}"/>
              </a:ext>
            </a:extLst>
          </p:cNvPr>
          <p:cNvSpPr>
            <a:spLocks noGrp="1"/>
          </p:cNvSpPr>
          <p:nvPr>
            <p:ph type="dt" sz="half" idx="10"/>
          </p:nvPr>
        </p:nvSpPr>
        <p:spPr/>
        <p:txBody>
          <a:bodyPr/>
          <a:lstStyle/>
          <a:p>
            <a:fld id="{18F02BAC-DDA6-41AB-A76C-5743C8C373B1}" type="datetimeFigureOut">
              <a:rPr lang="ru-RU" smtClean="0"/>
              <a:t>01.10.2026</a:t>
            </a:fld>
            <a:endParaRPr lang="ru-RU"/>
          </a:p>
        </p:txBody>
      </p:sp>
      <p:sp>
        <p:nvSpPr>
          <p:cNvPr id="5" name="Footer Placeholder 4">
            <a:extLst>
              <a:ext uri="{FF2B5EF4-FFF2-40B4-BE49-F238E27FC236}">
                <a16:creationId xmlns:a16="http://schemas.microsoft.com/office/drawing/2014/main" id="{4097EE3A-060F-7383-3025-B56F29BE195A}"/>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519A51B7-F456-DC84-DB6E-FB2032A4DAE4}"/>
              </a:ext>
            </a:extLst>
          </p:cNvPr>
          <p:cNvSpPr>
            <a:spLocks noGrp="1"/>
          </p:cNvSpPr>
          <p:nvPr>
            <p:ph type="sldNum" sz="quarter" idx="12"/>
          </p:nvPr>
        </p:nvSpPr>
        <p:spPr/>
        <p:txBody>
          <a:bodyPr/>
          <a:lstStyle/>
          <a:p>
            <a:fld id="{D1BA955C-D44C-4B1F-9C93-AB049A08F23D}" type="slidenum">
              <a:rPr lang="ru-RU" smtClean="0"/>
              <a:t>‹#›</a:t>
            </a:fld>
            <a:endParaRPr lang="ru-RU"/>
          </a:p>
        </p:txBody>
      </p:sp>
    </p:spTree>
    <p:extLst>
      <p:ext uri="{BB962C8B-B14F-4D97-AF65-F5344CB8AC3E}">
        <p14:creationId xmlns:p14="http://schemas.microsoft.com/office/powerpoint/2010/main" val="4269940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7831A-C9AC-2D25-BAB2-CF82D26191A4}"/>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BEE623E3-8CF0-B2AA-3468-6013CE8CC1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Content Placeholder 3">
            <a:extLst>
              <a:ext uri="{FF2B5EF4-FFF2-40B4-BE49-F238E27FC236}">
                <a16:creationId xmlns:a16="http://schemas.microsoft.com/office/drawing/2014/main" id="{97C9BBE9-E3E4-B494-299F-8993BE4A94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Date Placeholder 4">
            <a:extLst>
              <a:ext uri="{FF2B5EF4-FFF2-40B4-BE49-F238E27FC236}">
                <a16:creationId xmlns:a16="http://schemas.microsoft.com/office/drawing/2014/main" id="{7A988BA7-D887-8DD3-E391-6F28891601C3}"/>
              </a:ext>
            </a:extLst>
          </p:cNvPr>
          <p:cNvSpPr>
            <a:spLocks noGrp="1"/>
          </p:cNvSpPr>
          <p:nvPr>
            <p:ph type="dt" sz="half" idx="10"/>
          </p:nvPr>
        </p:nvSpPr>
        <p:spPr/>
        <p:txBody>
          <a:bodyPr/>
          <a:lstStyle/>
          <a:p>
            <a:fld id="{18F02BAC-DDA6-41AB-A76C-5743C8C373B1}" type="datetimeFigureOut">
              <a:rPr lang="ru-RU" smtClean="0"/>
              <a:t>01.10.2026</a:t>
            </a:fld>
            <a:endParaRPr lang="ru-RU"/>
          </a:p>
        </p:txBody>
      </p:sp>
      <p:sp>
        <p:nvSpPr>
          <p:cNvPr id="6" name="Footer Placeholder 5">
            <a:extLst>
              <a:ext uri="{FF2B5EF4-FFF2-40B4-BE49-F238E27FC236}">
                <a16:creationId xmlns:a16="http://schemas.microsoft.com/office/drawing/2014/main" id="{66599F7D-B9F0-E35F-F60B-B98B727FB784}"/>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78F1B85C-2C11-90A8-5C3E-5A21E039DB81}"/>
              </a:ext>
            </a:extLst>
          </p:cNvPr>
          <p:cNvSpPr>
            <a:spLocks noGrp="1"/>
          </p:cNvSpPr>
          <p:nvPr>
            <p:ph type="sldNum" sz="quarter" idx="12"/>
          </p:nvPr>
        </p:nvSpPr>
        <p:spPr/>
        <p:txBody>
          <a:bodyPr/>
          <a:lstStyle/>
          <a:p>
            <a:fld id="{D1BA955C-D44C-4B1F-9C93-AB049A08F23D}" type="slidenum">
              <a:rPr lang="ru-RU" smtClean="0"/>
              <a:t>‹#›</a:t>
            </a:fld>
            <a:endParaRPr lang="ru-RU"/>
          </a:p>
        </p:txBody>
      </p:sp>
    </p:spTree>
    <p:extLst>
      <p:ext uri="{BB962C8B-B14F-4D97-AF65-F5344CB8AC3E}">
        <p14:creationId xmlns:p14="http://schemas.microsoft.com/office/powerpoint/2010/main" val="2984919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404C3-E4B7-40F1-D3C0-5F225D46018A}"/>
              </a:ext>
            </a:extLst>
          </p:cNvPr>
          <p:cNvSpPr>
            <a:spLocks noGrp="1"/>
          </p:cNvSpPr>
          <p:nvPr>
            <p:ph type="title"/>
          </p:nvPr>
        </p:nvSpPr>
        <p:spPr>
          <a:xfrm>
            <a:off x="839788" y="365125"/>
            <a:ext cx="10515600" cy="1325563"/>
          </a:xfrm>
        </p:spPr>
        <p:txBody>
          <a:bodyPr/>
          <a:lstStyle/>
          <a:p>
            <a:r>
              <a:rPr lang="en-US"/>
              <a:t>Click to edit Master title style</a:t>
            </a:r>
            <a:endParaRPr lang="ru-RU"/>
          </a:p>
        </p:txBody>
      </p:sp>
      <p:sp>
        <p:nvSpPr>
          <p:cNvPr id="3" name="Text Placeholder 2">
            <a:extLst>
              <a:ext uri="{FF2B5EF4-FFF2-40B4-BE49-F238E27FC236}">
                <a16:creationId xmlns:a16="http://schemas.microsoft.com/office/drawing/2014/main" id="{A931B850-5B43-B0FC-5362-D934ADDA8D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CFE4E5-61AC-56CA-1E3B-921411D0C0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Text Placeholder 4">
            <a:extLst>
              <a:ext uri="{FF2B5EF4-FFF2-40B4-BE49-F238E27FC236}">
                <a16:creationId xmlns:a16="http://schemas.microsoft.com/office/drawing/2014/main" id="{0D24B584-A828-EEF3-2D03-6DF4C26AD1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4E6767-F148-D03E-E920-B0CD8A04CD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7" name="Date Placeholder 6">
            <a:extLst>
              <a:ext uri="{FF2B5EF4-FFF2-40B4-BE49-F238E27FC236}">
                <a16:creationId xmlns:a16="http://schemas.microsoft.com/office/drawing/2014/main" id="{178D4454-3DEC-0C38-F26D-45A4076A4137}"/>
              </a:ext>
            </a:extLst>
          </p:cNvPr>
          <p:cNvSpPr>
            <a:spLocks noGrp="1"/>
          </p:cNvSpPr>
          <p:nvPr>
            <p:ph type="dt" sz="half" idx="10"/>
          </p:nvPr>
        </p:nvSpPr>
        <p:spPr/>
        <p:txBody>
          <a:bodyPr/>
          <a:lstStyle/>
          <a:p>
            <a:fld id="{18F02BAC-DDA6-41AB-A76C-5743C8C373B1}" type="datetimeFigureOut">
              <a:rPr lang="ru-RU" smtClean="0"/>
              <a:t>01.10.2026</a:t>
            </a:fld>
            <a:endParaRPr lang="ru-RU"/>
          </a:p>
        </p:txBody>
      </p:sp>
      <p:sp>
        <p:nvSpPr>
          <p:cNvPr id="8" name="Footer Placeholder 7">
            <a:extLst>
              <a:ext uri="{FF2B5EF4-FFF2-40B4-BE49-F238E27FC236}">
                <a16:creationId xmlns:a16="http://schemas.microsoft.com/office/drawing/2014/main" id="{E2272FB6-9FEE-2967-0A4D-B2B739E6951A}"/>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714CCFF7-A053-CDF0-02CB-2FE8C995A5D2}"/>
              </a:ext>
            </a:extLst>
          </p:cNvPr>
          <p:cNvSpPr>
            <a:spLocks noGrp="1"/>
          </p:cNvSpPr>
          <p:nvPr>
            <p:ph type="sldNum" sz="quarter" idx="12"/>
          </p:nvPr>
        </p:nvSpPr>
        <p:spPr/>
        <p:txBody>
          <a:bodyPr/>
          <a:lstStyle/>
          <a:p>
            <a:fld id="{D1BA955C-D44C-4B1F-9C93-AB049A08F23D}" type="slidenum">
              <a:rPr lang="ru-RU" smtClean="0"/>
              <a:t>‹#›</a:t>
            </a:fld>
            <a:endParaRPr lang="ru-RU"/>
          </a:p>
        </p:txBody>
      </p:sp>
    </p:spTree>
    <p:extLst>
      <p:ext uri="{BB962C8B-B14F-4D97-AF65-F5344CB8AC3E}">
        <p14:creationId xmlns:p14="http://schemas.microsoft.com/office/powerpoint/2010/main" val="3536554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5E776-AE43-C41C-D1A1-E10073F708F4}"/>
              </a:ext>
            </a:extLst>
          </p:cNvPr>
          <p:cNvSpPr>
            <a:spLocks noGrp="1"/>
          </p:cNvSpPr>
          <p:nvPr>
            <p:ph type="title"/>
          </p:nvPr>
        </p:nvSpPr>
        <p:spPr/>
        <p:txBody>
          <a:bodyPr/>
          <a:lstStyle/>
          <a:p>
            <a:r>
              <a:rPr lang="en-US"/>
              <a:t>Click to edit Master title style</a:t>
            </a:r>
            <a:endParaRPr lang="ru-RU"/>
          </a:p>
        </p:txBody>
      </p:sp>
      <p:sp>
        <p:nvSpPr>
          <p:cNvPr id="3" name="Date Placeholder 2">
            <a:extLst>
              <a:ext uri="{FF2B5EF4-FFF2-40B4-BE49-F238E27FC236}">
                <a16:creationId xmlns:a16="http://schemas.microsoft.com/office/drawing/2014/main" id="{38BF3DB6-A149-41A4-F785-3297755889F5}"/>
              </a:ext>
            </a:extLst>
          </p:cNvPr>
          <p:cNvSpPr>
            <a:spLocks noGrp="1"/>
          </p:cNvSpPr>
          <p:nvPr>
            <p:ph type="dt" sz="half" idx="10"/>
          </p:nvPr>
        </p:nvSpPr>
        <p:spPr/>
        <p:txBody>
          <a:bodyPr/>
          <a:lstStyle/>
          <a:p>
            <a:fld id="{18F02BAC-DDA6-41AB-A76C-5743C8C373B1}" type="datetimeFigureOut">
              <a:rPr lang="ru-RU" smtClean="0"/>
              <a:t>01.10.2026</a:t>
            </a:fld>
            <a:endParaRPr lang="ru-RU"/>
          </a:p>
        </p:txBody>
      </p:sp>
      <p:sp>
        <p:nvSpPr>
          <p:cNvPr id="4" name="Footer Placeholder 3">
            <a:extLst>
              <a:ext uri="{FF2B5EF4-FFF2-40B4-BE49-F238E27FC236}">
                <a16:creationId xmlns:a16="http://schemas.microsoft.com/office/drawing/2014/main" id="{B610DE3A-F0BC-9EF2-C490-2FF1D603767C}"/>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0EE985A0-9695-1170-85EA-AF7EF530A398}"/>
              </a:ext>
            </a:extLst>
          </p:cNvPr>
          <p:cNvSpPr>
            <a:spLocks noGrp="1"/>
          </p:cNvSpPr>
          <p:nvPr>
            <p:ph type="sldNum" sz="quarter" idx="12"/>
          </p:nvPr>
        </p:nvSpPr>
        <p:spPr/>
        <p:txBody>
          <a:bodyPr/>
          <a:lstStyle/>
          <a:p>
            <a:fld id="{D1BA955C-D44C-4B1F-9C93-AB049A08F23D}" type="slidenum">
              <a:rPr lang="ru-RU" smtClean="0"/>
              <a:t>‹#›</a:t>
            </a:fld>
            <a:endParaRPr lang="ru-RU"/>
          </a:p>
        </p:txBody>
      </p:sp>
    </p:spTree>
    <p:extLst>
      <p:ext uri="{BB962C8B-B14F-4D97-AF65-F5344CB8AC3E}">
        <p14:creationId xmlns:p14="http://schemas.microsoft.com/office/powerpoint/2010/main" val="2403506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BC9998-9F49-26C0-CA82-4C4D84AB07B6}"/>
              </a:ext>
            </a:extLst>
          </p:cNvPr>
          <p:cNvSpPr>
            <a:spLocks noGrp="1"/>
          </p:cNvSpPr>
          <p:nvPr>
            <p:ph type="dt" sz="half" idx="10"/>
          </p:nvPr>
        </p:nvSpPr>
        <p:spPr/>
        <p:txBody>
          <a:bodyPr/>
          <a:lstStyle/>
          <a:p>
            <a:fld id="{18F02BAC-DDA6-41AB-A76C-5743C8C373B1}" type="datetimeFigureOut">
              <a:rPr lang="ru-RU" smtClean="0"/>
              <a:t>01.10.2026</a:t>
            </a:fld>
            <a:endParaRPr lang="ru-RU"/>
          </a:p>
        </p:txBody>
      </p:sp>
      <p:sp>
        <p:nvSpPr>
          <p:cNvPr id="3" name="Footer Placeholder 2">
            <a:extLst>
              <a:ext uri="{FF2B5EF4-FFF2-40B4-BE49-F238E27FC236}">
                <a16:creationId xmlns:a16="http://schemas.microsoft.com/office/drawing/2014/main" id="{F4332E64-3056-6CC2-CE05-2463D7E3FF20}"/>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41FAC635-4825-A6CE-FCE3-74CD5E595F27}"/>
              </a:ext>
            </a:extLst>
          </p:cNvPr>
          <p:cNvSpPr>
            <a:spLocks noGrp="1"/>
          </p:cNvSpPr>
          <p:nvPr>
            <p:ph type="sldNum" sz="quarter" idx="12"/>
          </p:nvPr>
        </p:nvSpPr>
        <p:spPr/>
        <p:txBody>
          <a:bodyPr/>
          <a:lstStyle/>
          <a:p>
            <a:fld id="{D1BA955C-D44C-4B1F-9C93-AB049A08F23D}" type="slidenum">
              <a:rPr lang="ru-RU" smtClean="0"/>
              <a:t>‹#›</a:t>
            </a:fld>
            <a:endParaRPr lang="ru-RU"/>
          </a:p>
        </p:txBody>
      </p:sp>
    </p:spTree>
    <p:extLst>
      <p:ext uri="{BB962C8B-B14F-4D97-AF65-F5344CB8AC3E}">
        <p14:creationId xmlns:p14="http://schemas.microsoft.com/office/powerpoint/2010/main" val="178684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40DC9-4FCF-5FF4-7598-DEF5789076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Content Placeholder 2">
            <a:extLst>
              <a:ext uri="{FF2B5EF4-FFF2-40B4-BE49-F238E27FC236}">
                <a16:creationId xmlns:a16="http://schemas.microsoft.com/office/drawing/2014/main" id="{6F608C24-D8D7-63CE-6ECE-38D6A565EA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Text Placeholder 3">
            <a:extLst>
              <a:ext uri="{FF2B5EF4-FFF2-40B4-BE49-F238E27FC236}">
                <a16:creationId xmlns:a16="http://schemas.microsoft.com/office/drawing/2014/main" id="{5538030C-5CFF-2FAB-73C5-A6DA70B88E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C855A9-9E8B-2633-4B7F-D1BC775BD7B2}"/>
              </a:ext>
            </a:extLst>
          </p:cNvPr>
          <p:cNvSpPr>
            <a:spLocks noGrp="1"/>
          </p:cNvSpPr>
          <p:nvPr>
            <p:ph type="dt" sz="half" idx="10"/>
          </p:nvPr>
        </p:nvSpPr>
        <p:spPr/>
        <p:txBody>
          <a:bodyPr/>
          <a:lstStyle/>
          <a:p>
            <a:fld id="{18F02BAC-DDA6-41AB-A76C-5743C8C373B1}" type="datetimeFigureOut">
              <a:rPr lang="ru-RU" smtClean="0"/>
              <a:t>01.10.2026</a:t>
            </a:fld>
            <a:endParaRPr lang="ru-RU"/>
          </a:p>
        </p:txBody>
      </p:sp>
      <p:sp>
        <p:nvSpPr>
          <p:cNvPr id="6" name="Footer Placeholder 5">
            <a:extLst>
              <a:ext uri="{FF2B5EF4-FFF2-40B4-BE49-F238E27FC236}">
                <a16:creationId xmlns:a16="http://schemas.microsoft.com/office/drawing/2014/main" id="{32E13AA5-ECAC-42CE-9A0E-329D733DA6F7}"/>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82F031C3-B725-114C-DC5B-011EF1A83C59}"/>
              </a:ext>
            </a:extLst>
          </p:cNvPr>
          <p:cNvSpPr>
            <a:spLocks noGrp="1"/>
          </p:cNvSpPr>
          <p:nvPr>
            <p:ph type="sldNum" sz="quarter" idx="12"/>
          </p:nvPr>
        </p:nvSpPr>
        <p:spPr/>
        <p:txBody>
          <a:bodyPr/>
          <a:lstStyle/>
          <a:p>
            <a:fld id="{D1BA955C-D44C-4B1F-9C93-AB049A08F23D}" type="slidenum">
              <a:rPr lang="ru-RU" smtClean="0"/>
              <a:t>‹#›</a:t>
            </a:fld>
            <a:endParaRPr lang="ru-RU"/>
          </a:p>
        </p:txBody>
      </p:sp>
    </p:spTree>
    <p:extLst>
      <p:ext uri="{BB962C8B-B14F-4D97-AF65-F5344CB8AC3E}">
        <p14:creationId xmlns:p14="http://schemas.microsoft.com/office/powerpoint/2010/main" val="3368840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626C-25C4-2CBB-A409-1879F4F07E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RU"/>
          </a:p>
        </p:txBody>
      </p:sp>
      <p:sp>
        <p:nvSpPr>
          <p:cNvPr id="3" name="Picture Placeholder 2">
            <a:extLst>
              <a:ext uri="{FF2B5EF4-FFF2-40B4-BE49-F238E27FC236}">
                <a16:creationId xmlns:a16="http://schemas.microsoft.com/office/drawing/2014/main" id="{8AFDAFD1-F8A5-7061-2614-B9DAA122198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a:extLst>
              <a:ext uri="{FF2B5EF4-FFF2-40B4-BE49-F238E27FC236}">
                <a16:creationId xmlns:a16="http://schemas.microsoft.com/office/drawing/2014/main" id="{407DF515-9006-75DA-498F-0DC0673C0D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C01913-BBB5-7760-F4AD-2571D254E38F}"/>
              </a:ext>
            </a:extLst>
          </p:cNvPr>
          <p:cNvSpPr>
            <a:spLocks noGrp="1"/>
          </p:cNvSpPr>
          <p:nvPr>
            <p:ph type="dt" sz="half" idx="10"/>
          </p:nvPr>
        </p:nvSpPr>
        <p:spPr/>
        <p:txBody>
          <a:bodyPr/>
          <a:lstStyle/>
          <a:p>
            <a:fld id="{18F02BAC-DDA6-41AB-A76C-5743C8C373B1}" type="datetimeFigureOut">
              <a:rPr lang="ru-RU" smtClean="0"/>
              <a:t>01.10.2026</a:t>
            </a:fld>
            <a:endParaRPr lang="ru-RU"/>
          </a:p>
        </p:txBody>
      </p:sp>
      <p:sp>
        <p:nvSpPr>
          <p:cNvPr id="6" name="Footer Placeholder 5">
            <a:extLst>
              <a:ext uri="{FF2B5EF4-FFF2-40B4-BE49-F238E27FC236}">
                <a16:creationId xmlns:a16="http://schemas.microsoft.com/office/drawing/2014/main" id="{1EF37DAE-E51D-F163-BCE4-B0F96AF45E4C}"/>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D12478A0-F65A-42C1-8AA1-ACFF4DFB5440}"/>
              </a:ext>
            </a:extLst>
          </p:cNvPr>
          <p:cNvSpPr>
            <a:spLocks noGrp="1"/>
          </p:cNvSpPr>
          <p:nvPr>
            <p:ph type="sldNum" sz="quarter" idx="12"/>
          </p:nvPr>
        </p:nvSpPr>
        <p:spPr/>
        <p:txBody>
          <a:bodyPr/>
          <a:lstStyle/>
          <a:p>
            <a:fld id="{D1BA955C-D44C-4B1F-9C93-AB049A08F23D}" type="slidenum">
              <a:rPr lang="ru-RU" smtClean="0"/>
              <a:t>‹#›</a:t>
            </a:fld>
            <a:endParaRPr lang="ru-RU"/>
          </a:p>
        </p:txBody>
      </p:sp>
    </p:spTree>
    <p:extLst>
      <p:ext uri="{BB962C8B-B14F-4D97-AF65-F5344CB8AC3E}">
        <p14:creationId xmlns:p14="http://schemas.microsoft.com/office/powerpoint/2010/main" val="3892108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6D069-BAF3-24FA-50EB-82585DB61385}"/>
              </a:ext>
            </a:extLst>
          </p:cNvPr>
          <p:cNvSpPr>
            <a:spLocks noGrp="1"/>
          </p:cNvSpPr>
          <p:nvPr>
            <p:ph type="title"/>
          </p:nvPr>
        </p:nvSpPr>
        <p:spPr/>
        <p:txBody>
          <a:bodyPr/>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9D3220B6-DDAA-8CE5-D203-E25DBB06C7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B7FB33F2-BABB-1430-6A7E-39DAFF39F34C}"/>
              </a:ext>
            </a:extLst>
          </p:cNvPr>
          <p:cNvSpPr>
            <a:spLocks noGrp="1"/>
          </p:cNvSpPr>
          <p:nvPr>
            <p:ph type="dt" sz="half" idx="10"/>
          </p:nvPr>
        </p:nvSpPr>
        <p:spPr/>
        <p:txBody>
          <a:bodyPr/>
          <a:lstStyle/>
          <a:p>
            <a:fld id="{18F02BAC-DDA6-41AB-A76C-5743C8C373B1}" type="datetimeFigureOut">
              <a:rPr lang="ru-RU" smtClean="0"/>
              <a:t>01.10.2026</a:t>
            </a:fld>
            <a:endParaRPr lang="ru-RU"/>
          </a:p>
        </p:txBody>
      </p:sp>
      <p:sp>
        <p:nvSpPr>
          <p:cNvPr id="5" name="Footer Placeholder 4">
            <a:extLst>
              <a:ext uri="{FF2B5EF4-FFF2-40B4-BE49-F238E27FC236}">
                <a16:creationId xmlns:a16="http://schemas.microsoft.com/office/drawing/2014/main" id="{19CB55DE-8321-70C9-07CA-71A62E2DB82C}"/>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CFF29738-1DFF-64EF-0CA3-8CA4FC900BE0}"/>
              </a:ext>
            </a:extLst>
          </p:cNvPr>
          <p:cNvSpPr>
            <a:spLocks noGrp="1"/>
          </p:cNvSpPr>
          <p:nvPr>
            <p:ph type="sldNum" sz="quarter" idx="12"/>
          </p:nvPr>
        </p:nvSpPr>
        <p:spPr/>
        <p:txBody>
          <a:bodyPr/>
          <a:lstStyle/>
          <a:p>
            <a:fld id="{D1BA955C-D44C-4B1F-9C93-AB049A08F23D}" type="slidenum">
              <a:rPr lang="ru-RU" smtClean="0"/>
              <a:t>‹#›</a:t>
            </a:fld>
            <a:endParaRPr lang="ru-RU"/>
          </a:p>
        </p:txBody>
      </p:sp>
    </p:spTree>
    <p:extLst>
      <p:ext uri="{BB962C8B-B14F-4D97-AF65-F5344CB8AC3E}">
        <p14:creationId xmlns:p14="http://schemas.microsoft.com/office/powerpoint/2010/main" val="428487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7CCD6A-BBC0-FFAD-07BF-1434064AB2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RU"/>
          </a:p>
        </p:txBody>
      </p:sp>
      <p:sp>
        <p:nvSpPr>
          <p:cNvPr id="3" name="Vertical Text Placeholder 2">
            <a:extLst>
              <a:ext uri="{FF2B5EF4-FFF2-40B4-BE49-F238E27FC236}">
                <a16:creationId xmlns:a16="http://schemas.microsoft.com/office/drawing/2014/main" id="{C6C98D25-F326-82B3-2916-8F4381BBEB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B4154B6A-6D0F-1EE7-7561-ED24D2D6074D}"/>
              </a:ext>
            </a:extLst>
          </p:cNvPr>
          <p:cNvSpPr>
            <a:spLocks noGrp="1"/>
          </p:cNvSpPr>
          <p:nvPr>
            <p:ph type="dt" sz="half" idx="10"/>
          </p:nvPr>
        </p:nvSpPr>
        <p:spPr/>
        <p:txBody>
          <a:bodyPr/>
          <a:lstStyle/>
          <a:p>
            <a:fld id="{18F02BAC-DDA6-41AB-A76C-5743C8C373B1}" type="datetimeFigureOut">
              <a:rPr lang="ru-RU" smtClean="0"/>
              <a:t>01.10.2026</a:t>
            </a:fld>
            <a:endParaRPr lang="ru-RU"/>
          </a:p>
        </p:txBody>
      </p:sp>
      <p:sp>
        <p:nvSpPr>
          <p:cNvPr id="5" name="Footer Placeholder 4">
            <a:extLst>
              <a:ext uri="{FF2B5EF4-FFF2-40B4-BE49-F238E27FC236}">
                <a16:creationId xmlns:a16="http://schemas.microsoft.com/office/drawing/2014/main" id="{1FBB53CD-7757-93F1-E940-E5C0AE9BAADE}"/>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FDF1DC87-FAC4-7AB7-96FC-DFBE723B87F1}"/>
              </a:ext>
            </a:extLst>
          </p:cNvPr>
          <p:cNvSpPr>
            <a:spLocks noGrp="1"/>
          </p:cNvSpPr>
          <p:nvPr>
            <p:ph type="sldNum" sz="quarter" idx="12"/>
          </p:nvPr>
        </p:nvSpPr>
        <p:spPr/>
        <p:txBody>
          <a:bodyPr/>
          <a:lstStyle/>
          <a:p>
            <a:fld id="{D1BA955C-D44C-4B1F-9C93-AB049A08F23D}" type="slidenum">
              <a:rPr lang="ru-RU" smtClean="0"/>
              <a:t>‹#›</a:t>
            </a:fld>
            <a:endParaRPr lang="ru-RU"/>
          </a:p>
        </p:txBody>
      </p:sp>
    </p:spTree>
    <p:extLst>
      <p:ext uri="{BB962C8B-B14F-4D97-AF65-F5344CB8AC3E}">
        <p14:creationId xmlns:p14="http://schemas.microsoft.com/office/powerpoint/2010/main" val="2481349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24EA68-443C-0296-8029-94D5C78E27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RU"/>
          </a:p>
        </p:txBody>
      </p:sp>
      <p:sp>
        <p:nvSpPr>
          <p:cNvPr id="3" name="Text Placeholder 2">
            <a:extLst>
              <a:ext uri="{FF2B5EF4-FFF2-40B4-BE49-F238E27FC236}">
                <a16:creationId xmlns:a16="http://schemas.microsoft.com/office/drawing/2014/main" id="{02ED267A-4B67-0BDD-940F-14C971514F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a:extLst>
              <a:ext uri="{FF2B5EF4-FFF2-40B4-BE49-F238E27FC236}">
                <a16:creationId xmlns:a16="http://schemas.microsoft.com/office/drawing/2014/main" id="{57CC5FFD-CB66-F392-2550-C906FA5584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F02BAC-DDA6-41AB-A76C-5743C8C373B1}" type="datetimeFigureOut">
              <a:rPr lang="ru-RU" smtClean="0"/>
              <a:t>01.10.2026</a:t>
            </a:fld>
            <a:endParaRPr lang="ru-RU"/>
          </a:p>
        </p:txBody>
      </p:sp>
      <p:sp>
        <p:nvSpPr>
          <p:cNvPr id="5" name="Footer Placeholder 4">
            <a:extLst>
              <a:ext uri="{FF2B5EF4-FFF2-40B4-BE49-F238E27FC236}">
                <a16:creationId xmlns:a16="http://schemas.microsoft.com/office/drawing/2014/main" id="{55E09B5B-1356-1879-7628-AD6897D223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Slide Number Placeholder 5">
            <a:extLst>
              <a:ext uri="{FF2B5EF4-FFF2-40B4-BE49-F238E27FC236}">
                <a16:creationId xmlns:a16="http://schemas.microsoft.com/office/drawing/2014/main" id="{FAA5064D-BCB3-2378-A761-0B446DDC64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BA955C-D44C-4B1F-9C93-AB049A08F23D}" type="slidenum">
              <a:rPr lang="ru-RU" smtClean="0"/>
              <a:t>‹#›</a:t>
            </a:fld>
            <a:endParaRPr lang="ru-RU"/>
          </a:p>
        </p:txBody>
      </p:sp>
    </p:spTree>
    <p:extLst>
      <p:ext uri="{BB962C8B-B14F-4D97-AF65-F5344CB8AC3E}">
        <p14:creationId xmlns:p14="http://schemas.microsoft.com/office/powerpoint/2010/main" val="1287456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pd.rkn.gov.ru/operators-registry/operators-list/?id=10-0082707" TargetMode="External"/><Relationship Id="rId2" Type="http://schemas.openxmlformats.org/officeDocument/2006/relationships/hyperlink" Target="https://pd.rkn.gov.ru/operators-registry/operators-list/?id=09-0052467" TargetMode="External"/><Relationship Id="rId1" Type="http://schemas.openxmlformats.org/officeDocument/2006/relationships/slideLayout" Target="../slideLayouts/slideLayout2.xml"/><Relationship Id="rId5" Type="http://schemas.openxmlformats.org/officeDocument/2006/relationships/hyperlink" Target="https://pd.rkn.gov.ru/operators-registry/operators-list/?id=66-25-076763" TargetMode="External"/><Relationship Id="rId4" Type="http://schemas.openxmlformats.org/officeDocument/2006/relationships/hyperlink" Target="https://pd.rkn.gov.ru/operators-registry/operators-list/?id=66-19-00606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944DB-42F0-7918-BA53-F43730EBE14D}"/>
              </a:ext>
            </a:extLst>
          </p:cNvPr>
          <p:cNvSpPr>
            <a:spLocks noGrp="1"/>
          </p:cNvSpPr>
          <p:nvPr>
            <p:ph type="ctrTitle"/>
          </p:nvPr>
        </p:nvSpPr>
        <p:spPr/>
        <p:txBody>
          <a:bodyPr/>
          <a:lstStyle/>
          <a:p>
            <a:r>
              <a:rPr lang="ru-RU" dirty="0">
                <a:latin typeface="Times New Roman" panose="02020603050405020304" pitchFamily="18" charset="0"/>
                <a:cs typeface="Times New Roman" panose="02020603050405020304" pitchFamily="18" charset="0"/>
              </a:rPr>
              <a:t>Государственные реестры Роскомнадзора</a:t>
            </a:r>
          </a:p>
        </p:txBody>
      </p:sp>
      <p:sp>
        <p:nvSpPr>
          <p:cNvPr id="3" name="Subtitle 2">
            <a:extLst>
              <a:ext uri="{FF2B5EF4-FFF2-40B4-BE49-F238E27FC236}">
                <a16:creationId xmlns:a16="http://schemas.microsoft.com/office/drawing/2014/main" id="{E9338250-C065-8738-1747-D119D8305CDF}"/>
              </a:ext>
            </a:extLst>
          </p:cNvPr>
          <p:cNvSpPr>
            <a:spLocks noGrp="1"/>
          </p:cNvSpPr>
          <p:nvPr>
            <p:ph type="subTitle" idx="1"/>
          </p:nvPr>
        </p:nvSpPr>
        <p:spPr>
          <a:xfrm>
            <a:off x="7912728" y="4916032"/>
            <a:ext cx="4279271" cy="1941968"/>
          </a:xfrm>
        </p:spPr>
        <p:txBody>
          <a:bodyPr/>
          <a:lstStyle/>
          <a:p>
            <a:pPr algn="l"/>
            <a:r>
              <a:rPr lang="ru-RU" dirty="0">
                <a:latin typeface="Times New Roman" panose="02020603050405020304" pitchFamily="18" charset="0"/>
                <a:cs typeface="Times New Roman" panose="02020603050405020304" pitchFamily="18" charset="0"/>
              </a:rPr>
              <a:t>Подготовили:</a:t>
            </a:r>
          </a:p>
          <a:p>
            <a:pPr algn="l"/>
            <a:r>
              <a:rPr lang="ru-RU" dirty="0">
                <a:latin typeface="Times New Roman" panose="02020603050405020304" pitchFamily="18" charset="0"/>
                <a:cs typeface="Times New Roman" panose="02020603050405020304" pitchFamily="18" charset="0"/>
              </a:rPr>
              <a:t>Михайлич М. И.</a:t>
            </a:r>
          </a:p>
          <a:p>
            <a:pPr algn="l"/>
            <a:r>
              <a:rPr lang="ru-RU" dirty="0">
                <a:latin typeface="Times New Roman" panose="02020603050405020304" pitchFamily="18" charset="0"/>
                <a:cs typeface="Times New Roman" panose="02020603050405020304" pitchFamily="18" charset="0"/>
              </a:rPr>
              <a:t>Библив А. И.</a:t>
            </a:r>
          </a:p>
          <a:p>
            <a:pPr algn="l"/>
            <a:r>
              <a:rPr lang="ru-RU" dirty="0">
                <a:latin typeface="Times New Roman" panose="02020603050405020304" pitchFamily="18" charset="0"/>
                <a:cs typeface="Times New Roman" panose="02020603050405020304" pitchFamily="18" charset="0"/>
              </a:rPr>
              <a:t>5151003/40802</a:t>
            </a:r>
          </a:p>
        </p:txBody>
      </p:sp>
    </p:spTree>
    <p:extLst>
      <p:ext uri="{BB962C8B-B14F-4D97-AF65-F5344CB8AC3E}">
        <p14:creationId xmlns:p14="http://schemas.microsoft.com/office/powerpoint/2010/main" val="1567186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A989D-48F5-5F01-6BC6-9DB128A5A4F8}"/>
              </a:ext>
            </a:extLst>
          </p:cNvPr>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Выбранные организации (г. Екатеринбург)</a:t>
            </a:r>
          </a:p>
        </p:txBody>
      </p:sp>
      <p:graphicFrame>
        <p:nvGraphicFramePr>
          <p:cNvPr id="4" name="Table 3">
            <a:extLst>
              <a:ext uri="{FF2B5EF4-FFF2-40B4-BE49-F238E27FC236}">
                <a16:creationId xmlns:a16="http://schemas.microsoft.com/office/drawing/2014/main" id="{F13081BF-C133-A81E-3D28-4151F10D3DDA}"/>
              </a:ext>
            </a:extLst>
          </p:cNvPr>
          <p:cNvGraphicFramePr>
            <a:graphicFrameLocks noGrp="1"/>
          </p:cNvGraphicFramePr>
          <p:nvPr>
            <p:extLst>
              <p:ext uri="{D42A27DB-BD31-4B8C-83A1-F6EECF244321}">
                <p14:modId xmlns:p14="http://schemas.microsoft.com/office/powerpoint/2010/main" val="2005205485"/>
              </p:ext>
            </p:extLst>
          </p:nvPr>
        </p:nvGraphicFramePr>
        <p:xfrm>
          <a:off x="684290" y="1536779"/>
          <a:ext cx="10587272" cy="3398366"/>
        </p:xfrm>
        <a:graphic>
          <a:graphicData uri="http://schemas.openxmlformats.org/drawingml/2006/table">
            <a:tbl>
              <a:tblPr firstRow="1" bandRow="1">
                <a:tableStyleId>{5940675A-B579-460E-94D1-54222C63F5DA}</a:tableStyleId>
              </a:tblPr>
              <a:tblGrid>
                <a:gridCol w="2646818">
                  <a:extLst>
                    <a:ext uri="{9D8B030D-6E8A-4147-A177-3AD203B41FA5}">
                      <a16:colId xmlns:a16="http://schemas.microsoft.com/office/drawing/2014/main" val="871437767"/>
                    </a:ext>
                  </a:extLst>
                </a:gridCol>
                <a:gridCol w="2646818">
                  <a:extLst>
                    <a:ext uri="{9D8B030D-6E8A-4147-A177-3AD203B41FA5}">
                      <a16:colId xmlns:a16="http://schemas.microsoft.com/office/drawing/2014/main" val="3568403856"/>
                    </a:ext>
                  </a:extLst>
                </a:gridCol>
                <a:gridCol w="2646818">
                  <a:extLst>
                    <a:ext uri="{9D8B030D-6E8A-4147-A177-3AD203B41FA5}">
                      <a16:colId xmlns:a16="http://schemas.microsoft.com/office/drawing/2014/main" val="2859216788"/>
                    </a:ext>
                  </a:extLst>
                </a:gridCol>
                <a:gridCol w="2646818">
                  <a:extLst>
                    <a:ext uri="{9D8B030D-6E8A-4147-A177-3AD203B41FA5}">
                      <a16:colId xmlns:a16="http://schemas.microsoft.com/office/drawing/2014/main" val="523177421"/>
                    </a:ext>
                  </a:extLst>
                </a:gridCol>
              </a:tblGrid>
              <a:tr h="744695">
                <a:tc>
                  <a:txBody>
                    <a:bodyPr/>
                    <a:lstStyle/>
                    <a:p>
                      <a:r>
                        <a:rPr lang="ru-RU" dirty="0">
                          <a:latin typeface="Times New Roman" panose="02020603050405020304" pitchFamily="18" charset="0"/>
                          <a:cs typeface="Times New Roman" panose="02020603050405020304" pitchFamily="18" charset="0"/>
                        </a:rPr>
                        <a:t>Организация</a:t>
                      </a:r>
                    </a:p>
                  </a:txBody>
                  <a:tcPr/>
                </a:tc>
                <a:tc>
                  <a:txBody>
                    <a:bodyPr/>
                    <a:lstStyle/>
                    <a:p>
                      <a:r>
                        <a:rPr lang="ru-RU" dirty="0">
                          <a:latin typeface="Times New Roman" panose="02020603050405020304" pitchFamily="18" charset="0"/>
                          <a:cs typeface="Times New Roman" panose="02020603050405020304" pitchFamily="18" charset="0"/>
                        </a:rPr>
                        <a:t>Тип</a:t>
                      </a:r>
                    </a:p>
                  </a:txBody>
                  <a:tcPr/>
                </a:tc>
                <a:tc>
                  <a:txBody>
                    <a:bodyPr/>
                    <a:lstStyle/>
                    <a:p>
                      <a:r>
                        <a:rPr lang="ru-RU" dirty="0">
                          <a:latin typeface="Times New Roman" panose="02020603050405020304" pitchFamily="18" charset="0"/>
                          <a:cs typeface="Times New Roman" panose="02020603050405020304" pitchFamily="18" charset="0"/>
                        </a:rPr>
                        <a:t>ИНН</a:t>
                      </a:r>
                    </a:p>
                  </a:txBody>
                  <a:tcPr/>
                </a:tc>
                <a:tc>
                  <a:txBody>
                    <a:bodyPr/>
                    <a:lstStyle/>
                    <a:p>
                      <a:r>
                        <a:rPr lang="ru-RU" dirty="0">
                          <a:latin typeface="Times New Roman" panose="02020603050405020304" pitchFamily="18" charset="0"/>
                          <a:cs typeface="Times New Roman" panose="02020603050405020304" pitchFamily="18" charset="0"/>
                        </a:rPr>
                        <a:t>Регистрационный номер</a:t>
                      </a:r>
                    </a:p>
                  </a:txBody>
                  <a:tcPr/>
                </a:tc>
                <a:extLst>
                  <a:ext uri="{0D108BD9-81ED-4DB2-BD59-A6C34878D82A}">
                    <a16:rowId xmlns:a16="http://schemas.microsoft.com/office/drawing/2014/main" val="387436551"/>
                  </a:ext>
                </a:extLst>
              </a:tr>
              <a:tr h="959666">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dirty="0">
                          <a:latin typeface="Times New Roman" panose="02020603050405020304" pitchFamily="18" charset="0"/>
                          <a:cs typeface="Times New Roman" panose="02020603050405020304" pitchFamily="18" charset="0"/>
                        </a:rPr>
                        <a:t>УрФУ им. первого президента России Б. Н. Ельцина</a:t>
                      </a:r>
                    </a:p>
                  </a:txBody>
                  <a:tcPr/>
                </a:tc>
                <a:tc>
                  <a:txBody>
                    <a:bodyPr/>
                    <a:lstStyle/>
                    <a:p>
                      <a:r>
                        <a:rPr lang="ru-RU" dirty="0">
                          <a:latin typeface="Times New Roman" panose="02020603050405020304" pitchFamily="18" charset="0"/>
                          <a:cs typeface="Times New Roman" panose="02020603050405020304" pitchFamily="18" charset="0"/>
                        </a:rPr>
                        <a:t>ВУЗ</a:t>
                      </a:r>
                    </a:p>
                  </a:txBody>
                  <a:tcPr/>
                </a:tc>
                <a:tc>
                  <a:txBody>
                    <a:bodyPr/>
                    <a:lstStyle/>
                    <a:p>
                      <a:r>
                        <a:rPr lang="ru-RU" dirty="0">
                          <a:latin typeface="Times New Roman" panose="02020603050405020304" pitchFamily="18" charset="0"/>
                          <a:cs typeface="Times New Roman" panose="02020603050405020304" pitchFamily="18" charset="0"/>
                        </a:rPr>
                        <a:t>6660003190</a:t>
                      </a:r>
                    </a:p>
                  </a:txBody>
                  <a:tcPr/>
                </a:tc>
                <a:tc>
                  <a:txBody>
                    <a:bodyPr/>
                    <a:lstStyle/>
                    <a:p>
                      <a:r>
                        <a:rPr lang="ru-RU" dirty="0">
                          <a:latin typeface="Times New Roman" panose="02020603050405020304" pitchFamily="18" charset="0"/>
                          <a:cs typeface="Times New Roman" panose="02020603050405020304" pitchFamily="18" charset="0"/>
                        </a:rPr>
                        <a:t>09-0052467</a:t>
                      </a:r>
                    </a:p>
                  </a:txBody>
                  <a:tcPr/>
                </a:tc>
                <a:extLst>
                  <a:ext uri="{0D108BD9-81ED-4DB2-BD59-A6C34878D82A}">
                    <a16:rowId xmlns:a16="http://schemas.microsoft.com/office/drawing/2014/main" val="3142062153"/>
                  </a:ext>
                </a:extLst>
              </a:tr>
              <a:tr h="395635">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dirty="0">
                          <a:latin typeface="Times New Roman" panose="02020603050405020304" pitchFamily="18" charset="0"/>
                          <a:cs typeface="Times New Roman" panose="02020603050405020304" pitchFamily="18" charset="0"/>
                        </a:rPr>
                        <a:t>УГГУ</a:t>
                      </a:r>
                    </a:p>
                  </a:txBody>
                  <a:tcPr/>
                </a:tc>
                <a:tc>
                  <a:txBody>
                    <a:bodyPr/>
                    <a:lstStyle/>
                    <a:p>
                      <a:r>
                        <a:rPr lang="ru-RU" dirty="0">
                          <a:latin typeface="Times New Roman" panose="02020603050405020304" pitchFamily="18" charset="0"/>
                          <a:cs typeface="Times New Roman" panose="02020603050405020304" pitchFamily="18" charset="0"/>
                        </a:rPr>
                        <a:t>ВУЗ</a:t>
                      </a:r>
                    </a:p>
                  </a:txBody>
                  <a:tcPr/>
                </a:tc>
                <a:tc>
                  <a:txBody>
                    <a:bodyPr/>
                    <a:lstStyle/>
                    <a:p>
                      <a:r>
                        <a:rPr lang="ru-RU" dirty="0">
                          <a:latin typeface="Times New Roman" panose="02020603050405020304" pitchFamily="18" charset="0"/>
                          <a:cs typeface="Times New Roman" panose="02020603050405020304" pitchFamily="18" charset="0"/>
                        </a:rPr>
                        <a:t>6661001004</a:t>
                      </a:r>
                    </a:p>
                  </a:txBody>
                  <a:tcPr/>
                </a:tc>
                <a:tc>
                  <a:txBody>
                    <a:bodyPr/>
                    <a:lstStyle/>
                    <a:p>
                      <a:r>
                        <a:rPr lang="ru-RU" dirty="0">
                          <a:latin typeface="Times New Roman" panose="02020603050405020304" pitchFamily="18" charset="0"/>
                          <a:cs typeface="Times New Roman" panose="02020603050405020304" pitchFamily="18" charset="0"/>
                        </a:rPr>
                        <a:t>10-0082707</a:t>
                      </a:r>
                    </a:p>
                  </a:txBody>
                  <a:tcPr/>
                </a:tc>
                <a:extLst>
                  <a:ext uri="{0D108BD9-81ED-4DB2-BD59-A6C34878D82A}">
                    <a16:rowId xmlns:a16="http://schemas.microsoft.com/office/drawing/2014/main" val="3752917769"/>
                  </a:ext>
                </a:extLst>
              </a:tr>
              <a:tr h="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dirty="0">
                          <a:latin typeface="Times New Roman" panose="02020603050405020304" pitchFamily="18" charset="0"/>
                          <a:cs typeface="Times New Roman" panose="02020603050405020304" pitchFamily="18" charset="0"/>
                        </a:rPr>
                        <a:t>ООО «Тур. Фирма Спутник»</a:t>
                      </a:r>
                    </a:p>
                  </a:txBody>
                  <a:tcPr/>
                </a:tc>
                <a:tc>
                  <a:txBody>
                    <a:bodyPr/>
                    <a:lstStyle/>
                    <a:p>
                      <a:r>
                        <a:rPr lang="ru-RU" dirty="0">
                          <a:latin typeface="Times New Roman" panose="02020603050405020304" pitchFamily="18" charset="0"/>
                          <a:cs typeface="Times New Roman" panose="02020603050405020304" pitchFamily="18" charset="0"/>
                        </a:rPr>
                        <a:t>Турфирма</a:t>
                      </a:r>
                    </a:p>
                  </a:txBody>
                  <a:tcPr/>
                </a:tc>
                <a:tc>
                  <a:txBody>
                    <a:bodyPr/>
                    <a:lstStyle/>
                    <a:p>
                      <a:r>
                        <a:rPr lang="ru-RU" dirty="0">
                          <a:latin typeface="Times New Roman" panose="02020603050405020304" pitchFamily="18" charset="0"/>
                          <a:cs typeface="Times New Roman" panose="02020603050405020304" pitchFamily="18" charset="0"/>
                        </a:rPr>
                        <a:t>6661007398</a:t>
                      </a:r>
                    </a:p>
                  </a:txBody>
                  <a:tcPr/>
                </a:tc>
                <a:tc>
                  <a:txBody>
                    <a:bodyPr/>
                    <a:lstStyle/>
                    <a:p>
                      <a:r>
                        <a:rPr lang="ru-RU" dirty="0">
                          <a:latin typeface="Times New Roman" panose="02020603050405020304" pitchFamily="18" charset="0"/>
                          <a:cs typeface="Times New Roman" panose="02020603050405020304" pitchFamily="18" charset="0"/>
                        </a:rPr>
                        <a:t>66-19-006061</a:t>
                      </a:r>
                    </a:p>
                  </a:txBody>
                  <a:tcPr/>
                </a:tc>
                <a:extLst>
                  <a:ext uri="{0D108BD9-81ED-4DB2-BD59-A6C34878D82A}">
                    <a16:rowId xmlns:a16="http://schemas.microsoft.com/office/drawing/2014/main" val="3379242360"/>
                  </a:ext>
                </a:extLst>
              </a:tr>
              <a:tr h="65829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ru-RU" dirty="0">
                          <a:latin typeface="Times New Roman" panose="02020603050405020304" pitchFamily="18" charset="0"/>
                          <a:cs typeface="Times New Roman" panose="02020603050405020304" pitchFamily="18" charset="0"/>
                        </a:rPr>
                        <a:t>ООО «ЕЗИМ»</a:t>
                      </a:r>
                    </a:p>
                  </a:txBody>
                  <a:tcPr/>
                </a:tc>
                <a:tc>
                  <a:txBody>
                    <a:bodyPr/>
                    <a:lstStyle/>
                    <a:p>
                      <a:r>
                        <a:rPr lang="ru-RU" dirty="0">
                          <a:latin typeface="Times New Roman" panose="02020603050405020304" pitchFamily="18" charset="0"/>
                          <a:cs typeface="Times New Roman" panose="02020603050405020304" pitchFamily="18" charset="0"/>
                        </a:rPr>
                        <a:t>Производственное предприятие</a:t>
                      </a:r>
                    </a:p>
                  </a:txBody>
                  <a:tcPr/>
                </a:tc>
                <a:tc>
                  <a:txBody>
                    <a:bodyPr/>
                    <a:lstStyle/>
                    <a:p>
                      <a:r>
                        <a:rPr lang="ru-RU" dirty="0">
                          <a:latin typeface="Times New Roman" panose="02020603050405020304" pitchFamily="18" charset="0"/>
                          <a:cs typeface="Times New Roman" panose="02020603050405020304" pitchFamily="18" charset="0"/>
                        </a:rPr>
                        <a:t>6679020304</a:t>
                      </a:r>
                    </a:p>
                  </a:txBody>
                  <a:tcPr/>
                </a:tc>
                <a:tc>
                  <a:txBody>
                    <a:bodyPr/>
                    <a:lstStyle/>
                    <a:p>
                      <a:r>
                        <a:rPr lang="ru-RU" dirty="0">
                          <a:latin typeface="Times New Roman" panose="02020603050405020304" pitchFamily="18" charset="0"/>
                          <a:cs typeface="Times New Roman" panose="02020603050405020304" pitchFamily="18" charset="0"/>
                        </a:rPr>
                        <a:t>66-25-076763</a:t>
                      </a:r>
                    </a:p>
                  </a:txBody>
                  <a:tcPr/>
                </a:tc>
                <a:extLst>
                  <a:ext uri="{0D108BD9-81ED-4DB2-BD59-A6C34878D82A}">
                    <a16:rowId xmlns:a16="http://schemas.microsoft.com/office/drawing/2014/main" val="3340060870"/>
                  </a:ext>
                </a:extLst>
              </a:tr>
            </a:tbl>
          </a:graphicData>
        </a:graphic>
      </p:graphicFrame>
    </p:spTree>
    <p:extLst>
      <p:ext uri="{BB962C8B-B14F-4D97-AF65-F5344CB8AC3E}">
        <p14:creationId xmlns:p14="http://schemas.microsoft.com/office/powerpoint/2010/main" val="1316660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FE76-F503-2D5E-18D7-B93862A96F52}"/>
              </a:ext>
            </a:extLst>
          </p:cNvPr>
          <p:cNvSpPr>
            <a:spLocks noGrp="1"/>
          </p:cNvSpPr>
          <p:nvPr>
            <p:ph type="title"/>
          </p:nvPr>
        </p:nvSpPr>
        <p:spPr>
          <a:xfrm>
            <a:off x="289560" y="18256"/>
            <a:ext cx="10515600" cy="1325563"/>
          </a:xfrm>
        </p:spPr>
        <p:txBody>
          <a:bodyPr>
            <a:normAutofit/>
          </a:bodyPr>
          <a:lstStyle/>
          <a:p>
            <a:r>
              <a:rPr lang="ru-RU" sz="3600" b="1" dirty="0">
                <a:latin typeface="Times New Roman" panose="02020603050405020304" pitchFamily="18" charset="0"/>
                <a:cs typeface="Times New Roman" panose="02020603050405020304" pitchFamily="18" charset="0"/>
              </a:rPr>
              <a:t>Проверка образовательных организаций</a:t>
            </a:r>
          </a:p>
        </p:txBody>
      </p:sp>
      <p:sp>
        <p:nvSpPr>
          <p:cNvPr id="12" name="Content Placeholder 11">
            <a:extLst>
              <a:ext uri="{FF2B5EF4-FFF2-40B4-BE49-F238E27FC236}">
                <a16:creationId xmlns:a16="http://schemas.microsoft.com/office/drawing/2014/main" id="{981AAA92-3262-6296-10E1-2BD30717E906}"/>
              </a:ext>
            </a:extLst>
          </p:cNvPr>
          <p:cNvSpPr>
            <a:spLocks noGrp="1"/>
          </p:cNvSpPr>
          <p:nvPr>
            <p:ph idx="1"/>
          </p:nvPr>
        </p:nvSpPr>
        <p:spPr>
          <a:xfrm>
            <a:off x="1011455" y="5567363"/>
            <a:ext cx="3685674" cy="462245"/>
          </a:xfrm>
        </p:spPr>
        <p:txBody>
          <a:bodyPr>
            <a:normAutofit/>
          </a:bodyPr>
          <a:lstStyle/>
          <a:p>
            <a:pPr marL="0" indent="0">
              <a:buNone/>
            </a:pPr>
            <a:r>
              <a:rPr lang="ru-RU" sz="2000" dirty="0">
                <a:latin typeface="Times New Roman" panose="02020603050405020304" pitchFamily="18" charset="0"/>
                <a:cs typeface="Times New Roman" panose="02020603050405020304" pitchFamily="18" charset="0"/>
              </a:rPr>
              <a:t>УрФУ - 09-0052467</a:t>
            </a:r>
          </a:p>
          <a:p>
            <a:pPr marL="0" indent="0">
              <a:buNone/>
            </a:pPr>
            <a:endParaRPr lang="ru-RU"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7207ACD-57A1-4075-577D-598164C3B777}"/>
              </a:ext>
            </a:extLst>
          </p:cNvPr>
          <p:cNvPicPr>
            <a:picLocks noChangeAspect="1"/>
          </p:cNvPicPr>
          <p:nvPr/>
        </p:nvPicPr>
        <p:blipFill>
          <a:blip r:embed="rId2"/>
          <a:stretch>
            <a:fillRect/>
          </a:stretch>
        </p:blipFill>
        <p:spPr>
          <a:xfrm>
            <a:off x="635232" y="1424539"/>
            <a:ext cx="5038360" cy="4191969"/>
          </a:xfrm>
          <a:prstGeom prst="rect">
            <a:avLst/>
          </a:prstGeom>
        </p:spPr>
      </p:pic>
      <p:pic>
        <p:nvPicPr>
          <p:cNvPr id="11" name="Picture 10">
            <a:extLst>
              <a:ext uri="{FF2B5EF4-FFF2-40B4-BE49-F238E27FC236}">
                <a16:creationId xmlns:a16="http://schemas.microsoft.com/office/drawing/2014/main" id="{DC1A3E0D-56EA-A720-5FC7-87ED0DD35154}"/>
              </a:ext>
            </a:extLst>
          </p:cNvPr>
          <p:cNvPicPr>
            <a:picLocks noChangeAspect="1"/>
          </p:cNvPicPr>
          <p:nvPr/>
        </p:nvPicPr>
        <p:blipFill>
          <a:blip r:embed="rId3"/>
          <a:stretch>
            <a:fillRect/>
          </a:stretch>
        </p:blipFill>
        <p:spPr>
          <a:xfrm>
            <a:off x="6638603" y="1424539"/>
            <a:ext cx="4684524" cy="3993465"/>
          </a:xfrm>
          <a:prstGeom prst="rect">
            <a:avLst/>
          </a:prstGeom>
        </p:spPr>
      </p:pic>
      <p:sp>
        <p:nvSpPr>
          <p:cNvPr id="13" name="Content Placeholder 11">
            <a:extLst>
              <a:ext uri="{FF2B5EF4-FFF2-40B4-BE49-F238E27FC236}">
                <a16:creationId xmlns:a16="http://schemas.microsoft.com/office/drawing/2014/main" id="{1770172D-AE68-109D-5ED5-8893CEFF8DDE}"/>
              </a:ext>
            </a:extLst>
          </p:cNvPr>
          <p:cNvSpPr txBox="1">
            <a:spLocks/>
          </p:cNvSpPr>
          <p:nvPr/>
        </p:nvSpPr>
        <p:spPr>
          <a:xfrm>
            <a:off x="7138028" y="5616508"/>
            <a:ext cx="3685674" cy="4622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000" dirty="0">
                <a:latin typeface="Times New Roman" panose="02020603050405020304" pitchFamily="18" charset="0"/>
                <a:cs typeface="Times New Roman" panose="02020603050405020304" pitchFamily="18" charset="0"/>
              </a:rPr>
              <a:t>УГГУ - 10-0082707</a:t>
            </a:r>
          </a:p>
        </p:txBody>
      </p:sp>
    </p:spTree>
    <p:extLst>
      <p:ext uri="{BB962C8B-B14F-4D97-AF65-F5344CB8AC3E}">
        <p14:creationId xmlns:p14="http://schemas.microsoft.com/office/powerpoint/2010/main" val="1658876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CF0EC-C00D-1042-9AAF-E1BC70410C9A}"/>
              </a:ext>
            </a:extLst>
          </p:cNvPr>
          <p:cNvSpPr>
            <a:spLocks noGrp="1"/>
          </p:cNvSpPr>
          <p:nvPr>
            <p:ph type="title"/>
          </p:nvPr>
        </p:nvSpPr>
        <p:spPr/>
        <p:txBody>
          <a:bodyPr>
            <a:normAutofit/>
          </a:bodyPr>
          <a:lstStyle/>
          <a:p>
            <a:r>
              <a:rPr lang="ru-RU" sz="3600" b="1" dirty="0">
                <a:latin typeface="Times New Roman" panose="02020603050405020304" pitchFamily="18" charset="0"/>
                <a:cs typeface="Times New Roman" panose="02020603050405020304" pitchFamily="18" charset="0"/>
              </a:rPr>
              <a:t>Проверка туристической и производственной организаций</a:t>
            </a:r>
            <a:endParaRPr lang="ru-RU" sz="3600" dirty="0"/>
          </a:p>
        </p:txBody>
      </p:sp>
      <p:sp>
        <p:nvSpPr>
          <p:cNvPr id="3" name="Content Placeholder 2">
            <a:extLst>
              <a:ext uri="{FF2B5EF4-FFF2-40B4-BE49-F238E27FC236}">
                <a16:creationId xmlns:a16="http://schemas.microsoft.com/office/drawing/2014/main" id="{D44F629C-D49A-7B0A-BBB6-3BB0A06A7AA9}"/>
              </a:ext>
            </a:extLst>
          </p:cNvPr>
          <p:cNvSpPr>
            <a:spLocks noGrp="1"/>
          </p:cNvSpPr>
          <p:nvPr>
            <p:ph idx="1"/>
          </p:nvPr>
        </p:nvSpPr>
        <p:spPr>
          <a:xfrm>
            <a:off x="1191285" y="5015619"/>
            <a:ext cx="3579891" cy="398353"/>
          </a:xfrm>
        </p:spPr>
        <p:txBody>
          <a:bodyPr>
            <a:normAutofit/>
          </a:bodyPr>
          <a:lstStyle/>
          <a:p>
            <a:pPr marL="0" indent="0">
              <a:buNone/>
            </a:pPr>
            <a:r>
              <a:rPr lang="ru-RU" sz="2000" dirty="0">
                <a:latin typeface="Times New Roman" panose="02020603050405020304" pitchFamily="18" charset="0"/>
                <a:cs typeface="Times New Roman" panose="02020603050405020304" pitchFamily="18" charset="0"/>
              </a:rPr>
              <a:t>«Спутник» - 66-19-006061</a:t>
            </a:r>
          </a:p>
        </p:txBody>
      </p:sp>
      <p:pic>
        <p:nvPicPr>
          <p:cNvPr id="5" name="Picture 4">
            <a:extLst>
              <a:ext uri="{FF2B5EF4-FFF2-40B4-BE49-F238E27FC236}">
                <a16:creationId xmlns:a16="http://schemas.microsoft.com/office/drawing/2014/main" id="{8AC6CD27-7101-6B0E-7F63-2ECF62B6D468}"/>
              </a:ext>
            </a:extLst>
          </p:cNvPr>
          <p:cNvPicPr>
            <a:picLocks noChangeAspect="1"/>
          </p:cNvPicPr>
          <p:nvPr/>
        </p:nvPicPr>
        <p:blipFill>
          <a:blip r:embed="rId2"/>
          <a:stretch>
            <a:fillRect/>
          </a:stretch>
        </p:blipFill>
        <p:spPr>
          <a:xfrm>
            <a:off x="838200" y="1842381"/>
            <a:ext cx="4361849" cy="2813364"/>
          </a:xfrm>
          <a:prstGeom prst="rect">
            <a:avLst/>
          </a:prstGeom>
        </p:spPr>
      </p:pic>
      <p:sp>
        <p:nvSpPr>
          <p:cNvPr id="6" name="Content Placeholder 2">
            <a:extLst>
              <a:ext uri="{FF2B5EF4-FFF2-40B4-BE49-F238E27FC236}">
                <a16:creationId xmlns:a16="http://schemas.microsoft.com/office/drawing/2014/main" id="{32F6AE10-536B-5C7D-D7DB-FF7440710BCA}"/>
              </a:ext>
            </a:extLst>
          </p:cNvPr>
          <p:cNvSpPr txBox="1">
            <a:spLocks/>
          </p:cNvSpPr>
          <p:nvPr/>
        </p:nvSpPr>
        <p:spPr>
          <a:xfrm>
            <a:off x="7672058" y="5015618"/>
            <a:ext cx="3579891" cy="3983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ru-RU" sz="2000" dirty="0">
                <a:latin typeface="Times New Roman" panose="02020603050405020304" pitchFamily="18" charset="0"/>
                <a:cs typeface="Times New Roman" panose="02020603050405020304" pitchFamily="18" charset="0"/>
              </a:rPr>
              <a:t>«ЕЗИМ» - 66-25-076763</a:t>
            </a:r>
          </a:p>
        </p:txBody>
      </p:sp>
      <p:pic>
        <p:nvPicPr>
          <p:cNvPr id="8" name="Picture 7">
            <a:extLst>
              <a:ext uri="{FF2B5EF4-FFF2-40B4-BE49-F238E27FC236}">
                <a16:creationId xmlns:a16="http://schemas.microsoft.com/office/drawing/2014/main" id="{0BDDDEF5-6AAC-86A4-3D75-DC3ADAF4A977}"/>
              </a:ext>
            </a:extLst>
          </p:cNvPr>
          <p:cNvPicPr>
            <a:picLocks noChangeAspect="1"/>
          </p:cNvPicPr>
          <p:nvPr/>
        </p:nvPicPr>
        <p:blipFill>
          <a:blip r:embed="rId3"/>
          <a:stretch>
            <a:fillRect/>
          </a:stretch>
        </p:blipFill>
        <p:spPr>
          <a:xfrm>
            <a:off x="6828990" y="1884139"/>
            <a:ext cx="4170970" cy="2771606"/>
          </a:xfrm>
          <a:prstGeom prst="rect">
            <a:avLst/>
          </a:prstGeom>
        </p:spPr>
      </p:pic>
    </p:spTree>
    <p:extLst>
      <p:ext uri="{BB962C8B-B14F-4D97-AF65-F5344CB8AC3E}">
        <p14:creationId xmlns:p14="http://schemas.microsoft.com/office/powerpoint/2010/main" val="2871282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218C4-21EC-BB50-ABF7-9AB96D10C6B4}"/>
              </a:ext>
            </a:extLst>
          </p:cNvPr>
          <p:cNvSpPr>
            <a:spLocks noGrp="1"/>
          </p:cNvSpPr>
          <p:nvPr>
            <p:ph type="title"/>
          </p:nvPr>
        </p:nvSpPr>
        <p:spPr>
          <a:xfrm>
            <a:off x="0" y="0"/>
            <a:ext cx="10515600" cy="787651"/>
          </a:xfrm>
        </p:spPr>
        <p:txBody>
          <a:bodyPr>
            <a:normAutofit/>
          </a:bodyPr>
          <a:lstStyle/>
          <a:p>
            <a:r>
              <a:rPr lang="ru-RU" sz="3600" b="1" dirty="0">
                <a:latin typeface="Times New Roman" panose="02020603050405020304" pitchFamily="18" charset="0"/>
                <a:cs typeface="Times New Roman" panose="02020603050405020304" pitchFamily="18" charset="0"/>
              </a:rPr>
              <a:t>Сведения об организациях</a:t>
            </a:r>
          </a:p>
        </p:txBody>
      </p:sp>
      <p:graphicFrame>
        <p:nvGraphicFramePr>
          <p:cNvPr id="4" name="Content Placeholder 3">
            <a:extLst>
              <a:ext uri="{FF2B5EF4-FFF2-40B4-BE49-F238E27FC236}">
                <a16:creationId xmlns:a16="http://schemas.microsoft.com/office/drawing/2014/main" id="{3A851DA6-88C1-0DFC-78C9-620BF094A2DA}"/>
              </a:ext>
            </a:extLst>
          </p:cNvPr>
          <p:cNvGraphicFramePr>
            <a:graphicFrameLocks noGrp="1"/>
          </p:cNvGraphicFramePr>
          <p:nvPr>
            <p:ph idx="1"/>
            <p:extLst>
              <p:ext uri="{D42A27DB-BD31-4B8C-83A1-F6EECF244321}">
                <p14:modId xmlns:p14="http://schemas.microsoft.com/office/powerpoint/2010/main" val="819392781"/>
              </p:ext>
            </p:extLst>
          </p:nvPr>
        </p:nvGraphicFramePr>
        <p:xfrm>
          <a:off x="512275" y="758045"/>
          <a:ext cx="10515600" cy="6099955"/>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946344658"/>
                    </a:ext>
                  </a:extLst>
                </a:gridCol>
                <a:gridCol w="2103120">
                  <a:extLst>
                    <a:ext uri="{9D8B030D-6E8A-4147-A177-3AD203B41FA5}">
                      <a16:colId xmlns:a16="http://schemas.microsoft.com/office/drawing/2014/main" val="1993601434"/>
                    </a:ext>
                  </a:extLst>
                </a:gridCol>
                <a:gridCol w="2103120">
                  <a:extLst>
                    <a:ext uri="{9D8B030D-6E8A-4147-A177-3AD203B41FA5}">
                      <a16:colId xmlns:a16="http://schemas.microsoft.com/office/drawing/2014/main" val="2253161713"/>
                    </a:ext>
                  </a:extLst>
                </a:gridCol>
                <a:gridCol w="1951173">
                  <a:extLst>
                    <a:ext uri="{9D8B030D-6E8A-4147-A177-3AD203B41FA5}">
                      <a16:colId xmlns:a16="http://schemas.microsoft.com/office/drawing/2014/main" val="2400830130"/>
                    </a:ext>
                  </a:extLst>
                </a:gridCol>
                <a:gridCol w="2255067">
                  <a:extLst>
                    <a:ext uri="{9D8B030D-6E8A-4147-A177-3AD203B41FA5}">
                      <a16:colId xmlns:a16="http://schemas.microsoft.com/office/drawing/2014/main" val="3325096149"/>
                    </a:ext>
                  </a:extLst>
                </a:gridCol>
              </a:tblGrid>
              <a:tr h="887875">
                <a:tc>
                  <a:txBody>
                    <a:bodyPr/>
                    <a:lstStyle/>
                    <a:p>
                      <a:pPr algn="l"/>
                      <a:r>
                        <a:rPr lang="ru-RU" sz="1400" dirty="0">
                          <a:latin typeface="Times New Roman" panose="02020603050405020304" pitchFamily="18" charset="0"/>
                          <a:cs typeface="Times New Roman" panose="02020603050405020304" pitchFamily="18" charset="0"/>
                        </a:rPr>
                        <a:t>Организация</a:t>
                      </a:r>
                    </a:p>
                  </a:txBody>
                  <a:tcPr/>
                </a:tc>
                <a:tc>
                  <a:txBody>
                    <a:bodyPr/>
                    <a:lstStyle/>
                    <a:p>
                      <a:pPr algn="l"/>
                      <a:r>
                        <a:rPr lang="ru-RU" sz="1400" dirty="0">
                          <a:latin typeface="Times New Roman" panose="02020603050405020304" pitchFamily="18" charset="0"/>
                          <a:cs typeface="Times New Roman" panose="02020603050405020304" pitchFamily="18" charset="0"/>
                        </a:rPr>
                        <a:t>ФГАОУ ВО «УрФУ имени первого президента России Б. Н. Ельцина»</a:t>
                      </a:r>
                    </a:p>
                  </a:txBody>
                  <a:tcPr/>
                </a:tc>
                <a:tc>
                  <a:txBody>
                    <a:bodyPr/>
                    <a:lstStyle/>
                    <a:p>
                      <a:pPr algn="l"/>
                      <a:r>
                        <a:rPr lang="ru-RU" sz="1400" dirty="0">
                          <a:latin typeface="Times New Roman" panose="02020603050405020304" pitchFamily="18" charset="0"/>
                          <a:cs typeface="Times New Roman" panose="02020603050405020304" pitchFamily="18" charset="0"/>
                        </a:rPr>
                        <a:t>ФГАОУ ВО «УГГУ»</a:t>
                      </a:r>
                    </a:p>
                  </a:txBody>
                  <a:tcPr/>
                </a:tc>
                <a:tc>
                  <a:txBody>
                    <a:bodyPr/>
                    <a:lstStyle/>
                    <a:p>
                      <a:pPr algn="l"/>
                      <a:r>
                        <a:rPr lang="ru-RU" sz="1400" dirty="0">
                          <a:latin typeface="Times New Roman" panose="02020603050405020304" pitchFamily="18" charset="0"/>
                          <a:cs typeface="Times New Roman" panose="02020603050405020304" pitchFamily="18" charset="0"/>
                        </a:rPr>
                        <a:t>ООО «Екатеринбургское бюро международного туризма Спутник»</a:t>
                      </a:r>
                    </a:p>
                  </a:txBody>
                  <a:tcPr/>
                </a:tc>
                <a:tc>
                  <a:txBody>
                    <a:bodyPr/>
                    <a:lstStyle/>
                    <a:p>
                      <a:pPr algn="l"/>
                      <a:r>
                        <a:rPr lang="ru-RU" sz="1400" dirty="0">
                          <a:latin typeface="Times New Roman" panose="02020603050405020304" pitchFamily="18" charset="0"/>
                          <a:cs typeface="Times New Roman" panose="02020603050405020304" pitchFamily="18" charset="0"/>
                        </a:rPr>
                        <a:t>ООО «ЕЗИМ»</a:t>
                      </a:r>
                    </a:p>
                  </a:txBody>
                  <a:tcPr/>
                </a:tc>
                <a:extLst>
                  <a:ext uri="{0D108BD9-81ED-4DB2-BD59-A6C34878D82A}">
                    <a16:rowId xmlns:a16="http://schemas.microsoft.com/office/drawing/2014/main" val="2539170101"/>
                  </a:ext>
                </a:extLst>
              </a:tr>
              <a:tr h="887875">
                <a:tc>
                  <a:txBody>
                    <a:bodyPr/>
                    <a:lstStyle/>
                    <a:p>
                      <a:pPr algn="l"/>
                      <a:r>
                        <a:rPr lang="ru-RU" sz="1400" dirty="0">
                          <a:latin typeface="Times New Roman" panose="02020603050405020304" pitchFamily="18" charset="0"/>
                          <a:cs typeface="Times New Roman" panose="02020603050405020304" pitchFamily="18" charset="0"/>
                        </a:rPr>
                        <a:t>Является ли организация оператором персональных данных?</a:t>
                      </a:r>
                    </a:p>
                  </a:txBody>
                  <a:tcPr/>
                </a:tc>
                <a:tc>
                  <a:txBody>
                    <a:bodyPr/>
                    <a:lstStyle/>
                    <a:p>
                      <a:pPr algn="l"/>
                      <a:r>
                        <a:rPr lang="ru-RU" sz="1400" dirty="0">
                          <a:latin typeface="Times New Roman" panose="02020603050405020304" pitchFamily="18" charset="0"/>
                          <a:cs typeface="Times New Roman" panose="02020603050405020304" pitchFamily="18" charset="0"/>
                        </a:rPr>
                        <a:t>Да</a:t>
                      </a:r>
                    </a:p>
                  </a:txBody>
                  <a:tcPr/>
                </a:tc>
                <a:tc>
                  <a:txBody>
                    <a:bodyPr/>
                    <a:lstStyle/>
                    <a:p>
                      <a:pPr algn="l"/>
                      <a:r>
                        <a:rPr lang="ru-RU" sz="1400" dirty="0">
                          <a:latin typeface="Times New Roman" panose="02020603050405020304" pitchFamily="18" charset="0"/>
                          <a:cs typeface="Times New Roman" panose="02020603050405020304" pitchFamily="18" charset="0"/>
                        </a:rPr>
                        <a:t>Да</a:t>
                      </a:r>
                    </a:p>
                  </a:txBody>
                  <a:tcPr/>
                </a:tc>
                <a:tc>
                  <a:txBody>
                    <a:bodyPr/>
                    <a:lstStyle/>
                    <a:p>
                      <a:pPr algn="l"/>
                      <a:r>
                        <a:rPr lang="ru-RU" sz="1400" dirty="0">
                          <a:latin typeface="Times New Roman" panose="02020603050405020304" pitchFamily="18" charset="0"/>
                          <a:cs typeface="Times New Roman" panose="02020603050405020304" pitchFamily="18" charset="0"/>
                        </a:rPr>
                        <a:t>Да</a:t>
                      </a:r>
                    </a:p>
                  </a:txBody>
                  <a:tcPr/>
                </a:tc>
                <a:tc>
                  <a:txBody>
                    <a:bodyPr/>
                    <a:lstStyle/>
                    <a:p>
                      <a:pPr algn="l"/>
                      <a:r>
                        <a:rPr lang="ru-RU" sz="1400" dirty="0">
                          <a:latin typeface="Times New Roman" panose="02020603050405020304" pitchFamily="18" charset="0"/>
                          <a:cs typeface="Times New Roman" panose="02020603050405020304" pitchFamily="18" charset="0"/>
                        </a:rPr>
                        <a:t>Да</a:t>
                      </a:r>
                    </a:p>
                  </a:txBody>
                  <a:tcPr/>
                </a:tc>
                <a:extLst>
                  <a:ext uri="{0D108BD9-81ED-4DB2-BD59-A6C34878D82A}">
                    <a16:rowId xmlns:a16="http://schemas.microsoft.com/office/drawing/2014/main" val="897322402"/>
                  </a:ext>
                </a:extLst>
              </a:tr>
              <a:tr h="887875">
                <a:tc>
                  <a:txBody>
                    <a:bodyPr/>
                    <a:lstStyle/>
                    <a:p>
                      <a:pPr algn="l"/>
                      <a:r>
                        <a:rPr lang="ru-RU" sz="1400" dirty="0">
                          <a:latin typeface="Times New Roman" panose="02020603050405020304" pitchFamily="18" charset="0"/>
                          <a:cs typeface="Times New Roman" panose="02020603050405020304" pitchFamily="18" charset="0"/>
                        </a:rPr>
                        <a:t>Использует ли организация средства шифрования при работе с персональными данными?</a:t>
                      </a:r>
                    </a:p>
                  </a:txBody>
                  <a:tcPr/>
                </a:tc>
                <a:tc>
                  <a:txBody>
                    <a:bodyPr/>
                    <a:lstStyle/>
                    <a:p>
                      <a:pPr algn="l"/>
                      <a:r>
                        <a:rPr lang="ru-RU" sz="1400" dirty="0">
                          <a:latin typeface="Times New Roman" panose="02020603050405020304" pitchFamily="18" charset="0"/>
                          <a:cs typeface="Times New Roman" panose="02020603050405020304" pitchFamily="18" charset="0"/>
                        </a:rPr>
                        <a:t>Да</a:t>
                      </a:r>
                    </a:p>
                  </a:txBody>
                  <a:tcPr/>
                </a:tc>
                <a:tc>
                  <a:txBody>
                    <a:bodyPr/>
                    <a:lstStyle/>
                    <a:p>
                      <a:pPr algn="l"/>
                      <a:r>
                        <a:rPr lang="ru-RU" sz="1400" dirty="0">
                          <a:latin typeface="Times New Roman" panose="02020603050405020304" pitchFamily="18" charset="0"/>
                          <a:cs typeface="Times New Roman" panose="02020603050405020304" pitchFamily="18" charset="0"/>
                        </a:rPr>
                        <a:t>Не указано</a:t>
                      </a:r>
                    </a:p>
                  </a:txBody>
                  <a:tcPr/>
                </a:tc>
                <a:tc>
                  <a:txBody>
                    <a:bodyPr/>
                    <a:lstStyle/>
                    <a:p>
                      <a:pPr algn="l"/>
                      <a:r>
                        <a:rPr lang="ru-RU" sz="1400" dirty="0">
                          <a:latin typeface="Times New Roman" panose="02020603050405020304" pitchFamily="18" charset="0"/>
                          <a:cs typeface="Times New Roman" panose="02020603050405020304" pitchFamily="18" charset="0"/>
                        </a:rPr>
                        <a:t>Не указано</a:t>
                      </a:r>
                    </a:p>
                  </a:txBody>
                  <a:tcPr/>
                </a:tc>
                <a:tc>
                  <a:txBody>
                    <a:bodyPr/>
                    <a:lstStyle/>
                    <a:p>
                      <a:pPr algn="l"/>
                      <a:r>
                        <a:rPr lang="ru-RU" sz="1400" dirty="0">
                          <a:latin typeface="Times New Roman" panose="02020603050405020304" pitchFamily="18" charset="0"/>
                          <a:cs typeface="Times New Roman" panose="02020603050405020304" pitchFamily="18" charset="0"/>
                        </a:rPr>
                        <a:t>Да</a:t>
                      </a:r>
                    </a:p>
                  </a:txBody>
                  <a:tcPr/>
                </a:tc>
                <a:extLst>
                  <a:ext uri="{0D108BD9-81ED-4DB2-BD59-A6C34878D82A}">
                    <a16:rowId xmlns:a16="http://schemas.microsoft.com/office/drawing/2014/main" val="2107028567"/>
                  </a:ext>
                </a:extLst>
              </a:tr>
              <a:tr h="751168">
                <a:tc>
                  <a:txBody>
                    <a:bodyPr/>
                    <a:lstStyle/>
                    <a:p>
                      <a:pPr algn="l"/>
                      <a:r>
                        <a:rPr lang="ru-RU" sz="1400" dirty="0">
                          <a:latin typeface="Times New Roman" panose="02020603050405020304" pitchFamily="18" charset="0"/>
                          <a:cs typeface="Times New Roman" panose="02020603050405020304" pitchFamily="18" charset="0"/>
                        </a:rPr>
                        <a:t>Осуществляют ли организации трансграничную передачу персональных данных?</a:t>
                      </a:r>
                    </a:p>
                  </a:txBody>
                  <a:tcPr/>
                </a:tc>
                <a:tc>
                  <a:txBody>
                    <a:bodyPr/>
                    <a:lstStyle/>
                    <a:p>
                      <a:pPr algn="l"/>
                      <a:r>
                        <a:rPr lang="ru-RU" sz="1400" dirty="0">
                          <a:latin typeface="Times New Roman" panose="02020603050405020304" pitchFamily="18" charset="0"/>
                          <a:cs typeface="Times New Roman" panose="02020603050405020304" pitchFamily="18" charset="0"/>
                        </a:rPr>
                        <a:t>Нет</a:t>
                      </a:r>
                    </a:p>
                  </a:txBody>
                  <a:tcPr/>
                </a:tc>
                <a:tc>
                  <a:txBody>
                    <a:bodyPr/>
                    <a:lstStyle/>
                    <a:p>
                      <a:pPr algn="l"/>
                      <a:r>
                        <a:rPr lang="ru-RU" sz="1400" dirty="0">
                          <a:latin typeface="Times New Roman" panose="02020603050405020304" pitchFamily="18" charset="0"/>
                          <a:cs typeface="Times New Roman" panose="02020603050405020304" pitchFamily="18" charset="0"/>
                        </a:rPr>
                        <a:t>Нет</a:t>
                      </a:r>
                    </a:p>
                  </a:txBody>
                  <a:tcPr/>
                </a:tc>
                <a:tc>
                  <a:txBody>
                    <a:bodyPr/>
                    <a:lstStyle/>
                    <a:p>
                      <a:pPr algn="l"/>
                      <a:r>
                        <a:rPr lang="ru-RU" sz="1400" dirty="0">
                          <a:latin typeface="Times New Roman" panose="02020603050405020304" pitchFamily="18" charset="0"/>
                          <a:cs typeface="Times New Roman" panose="02020603050405020304" pitchFamily="18" charset="0"/>
                        </a:rPr>
                        <a:t>Нет</a:t>
                      </a:r>
                    </a:p>
                  </a:txBody>
                  <a:tcPr/>
                </a:tc>
                <a:tc>
                  <a:txBody>
                    <a:bodyPr/>
                    <a:lstStyle/>
                    <a:p>
                      <a:pPr algn="l"/>
                      <a:r>
                        <a:rPr lang="ru-RU" sz="1400" dirty="0">
                          <a:latin typeface="Times New Roman" panose="02020603050405020304" pitchFamily="18" charset="0"/>
                          <a:cs typeface="Times New Roman" panose="02020603050405020304" pitchFamily="18" charset="0"/>
                        </a:rPr>
                        <a:t>Нет</a:t>
                      </a:r>
                    </a:p>
                  </a:txBody>
                  <a:tcPr/>
                </a:tc>
                <a:extLst>
                  <a:ext uri="{0D108BD9-81ED-4DB2-BD59-A6C34878D82A}">
                    <a16:rowId xmlns:a16="http://schemas.microsoft.com/office/drawing/2014/main" val="2006049783"/>
                  </a:ext>
                </a:extLst>
              </a:tr>
              <a:tr h="887875">
                <a:tc>
                  <a:txBody>
                    <a:bodyPr/>
                    <a:lstStyle/>
                    <a:p>
                      <a:pPr algn="l"/>
                      <a:r>
                        <a:rPr lang="ru-RU" sz="1400" dirty="0">
                          <a:latin typeface="Times New Roman" panose="02020603050405020304" pitchFamily="18" charset="0"/>
                          <a:cs typeface="Times New Roman" panose="02020603050405020304" pitchFamily="18" charset="0"/>
                        </a:rPr>
                        <a:t>Цель обработки персональных данных организацией.</a:t>
                      </a:r>
                    </a:p>
                  </a:txBody>
                  <a:tcPr/>
                </a:tc>
                <a:tc>
                  <a:txBody>
                    <a:bodyPr/>
                    <a:lstStyle/>
                    <a:p>
                      <a:pPr algn="l"/>
                      <a:r>
                        <a:rPr lang="ru-RU" sz="900" dirty="0">
                          <a:latin typeface="Times New Roman" panose="02020603050405020304" pitchFamily="18" charset="0"/>
                          <a:cs typeface="Times New Roman" panose="02020603050405020304" pitchFamily="18" charset="0"/>
                        </a:rPr>
                        <a:t>Прием на обучение в образовательную организацию по образовательным программам высшего образования; осуществление аттестации научных и научно-педагогических кадров высшей квалификации.</a:t>
                      </a:r>
                    </a:p>
                  </a:txBody>
                  <a:tcPr/>
                </a:tc>
                <a:tc>
                  <a:txBody>
                    <a:bodyPr/>
                    <a:lstStyle/>
                    <a:p>
                      <a:pPr algn="l"/>
                      <a:r>
                        <a:rPr lang="ru-RU" sz="900" dirty="0">
                          <a:latin typeface="Times New Roman" panose="02020603050405020304" pitchFamily="18" charset="0"/>
                          <a:cs typeface="Times New Roman" panose="02020603050405020304" pitchFamily="18" charset="0"/>
                        </a:rPr>
                        <a:t>Предоставление услуг образования, предоставление отчетов, ведение кадрового учета работников, ведение личных дел, проведение профессиональной подготовки, переподготовки, повышения квалификации, стажировки, проведения аттестации, квалификационных экзаменов, предоставление документов по месту пребывания, подготовка необходимых документов для налоговой отчетности.</a:t>
                      </a:r>
                    </a:p>
                  </a:txBody>
                  <a:tcPr/>
                </a:tc>
                <a:tc>
                  <a:txBody>
                    <a:bodyPr/>
                    <a:lstStyle/>
                    <a:p>
                      <a:pPr algn="l"/>
                      <a:r>
                        <a:rPr lang="ru-RU" sz="900" dirty="0">
                          <a:latin typeface="Times New Roman" panose="02020603050405020304" pitchFamily="18" charset="0"/>
                          <a:cs typeface="Times New Roman" panose="02020603050405020304" pitchFamily="18" charset="0"/>
                        </a:rPr>
                        <a:t>Обработка, регистрация сведений, необходимых для оказания туристических услуг гражданам РФ; договорные услуги со страхователями, застрахованными, выгодоприобретателями; персональные данные работников; сведения об их профессиональной служебной деятельности.</a:t>
                      </a:r>
                    </a:p>
                  </a:txBody>
                  <a:tcPr/>
                </a:tc>
                <a:tc>
                  <a:txBody>
                    <a:bodyPr/>
                    <a:lstStyle/>
                    <a:p>
                      <a:pPr algn="l"/>
                      <a:r>
                        <a:rPr lang="ru-RU" sz="900" dirty="0">
                          <a:latin typeface="Times New Roman" panose="02020603050405020304" pitchFamily="18" charset="0"/>
                          <a:cs typeface="Times New Roman" panose="02020603050405020304" pitchFamily="18" charset="0"/>
                        </a:rPr>
                        <a:t>Ведение кадрового и бухгалтерского учета; обеспечение соблюдения налогового законодательства РФ; обеспечение соблюдения пенсионного законодательства РФ; обеспечение соблюдения законодательства о государственной социальной помощи РФ</a:t>
                      </a:r>
                      <a:r>
                        <a:rPr lang="en-US" sz="900" dirty="0">
                          <a:latin typeface="Times New Roman" panose="02020603050405020304" pitchFamily="18" charset="0"/>
                          <a:cs typeface="Times New Roman" panose="02020603050405020304" pitchFamily="18" charset="0"/>
                        </a:rPr>
                        <a:t>;</a:t>
                      </a:r>
                      <a:endParaRPr lang="ru-RU" sz="900" dirty="0">
                        <a:latin typeface="Times New Roman" panose="02020603050405020304" pitchFamily="18" charset="0"/>
                        <a:cs typeface="Times New Roman" panose="02020603050405020304" pitchFamily="18" charset="0"/>
                      </a:endParaRPr>
                    </a:p>
                    <a:p>
                      <a:pPr algn="l"/>
                      <a:r>
                        <a:rPr lang="ru-RU" sz="900" dirty="0">
                          <a:latin typeface="Times New Roman" panose="02020603050405020304" pitchFamily="18" charset="0"/>
                          <a:cs typeface="Times New Roman" panose="02020603050405020304" pitchFamily="18" charset="0"/>
                        </a:rPr>
                        <a:t>проведение статистического учета; продвижение товаров, работ, услуг на рынке</a:t>
                      </a:r>
                      <a:r>
                        <a:rPr lang="en-US" sz="900" dirty="0">
                          <a:latin typeface="Times New Roman" panose="02020603050405020304" pitchFamily="18" charset="0"/>
                          <a:cs typeface="Times New Roman" panose="02020603050405020304" pitchFamily="18" charset="0"/>
                        </a:rPr>
                        <a:t>;</a:t>
                      </a:r>
                      <a:r>
                        <a:rPr lang="ru-RU" sz="900" dirty="0">
                          <a:latin typeface="Times New Roman" panose="02020603050405020304" pitchFamily="18" charset="0"/>
                          <a:cs typeface="Times New Roman" panose="02020603050405020304" pitchFamily="18" charset="0"/>
                        </a:rPr>
                        <a:t> подбор персонала (соискателей) на вакантные должности оператора; </a:t>
                      </a:r>
                    </a:p>
                  </a:txBody>
                  <a:tcPr/>
                </a:tc>
                <a:extLst>
                  <a:ext uri="{0D108BD9-81ED-4DB2-BD59-A6C34878D82A}">
                    <a16:rowId xmlns:a16="http://schemas.microsoft.com/office/drawing/2014/main" val="3768718211"/>
                  </a:ext>
                </a:extLst>
              </a:tr>
            </a:tbl>
          </a:graphicData>
        </a:graphic>
      </p:graphicFrame>
    </p:spTree>
    <p:extLst>
      <p:ext uri="{BB962C8B-B14F-4D97-AF65-F5344CB8AC3E}">
        <p14:creationId xmlns:p14="http://schemas.microsoft.com/office/powerpoint/2010/main" val="1680177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62545-5BC6-7C11-C2D2-C13A7C500985}"/>
              </a:ext>
            </a:extLst>
          </p:cNvPr>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Группы персональных данных:</a:t>
            </a:r>
          </a:p>
        </p:txBody>
      </p:sp>
      <p:sp>
        <p:nvSpPr>
          <p:cNvPr id="3" name="Content Placeholder 2">
            <a:extLst>
              <a:ext uri="{FF2B5EF4-FFF2-40B4-BE49-F238E27FC236}">
                <a16:creationId xmlns:a16="http://schemas.microsoft.com/office/drawing/2014/main" id="{6422F4BC-A082-1742-C262-D50E63F0560E}"/>
              </a:ext>
            </a:extLst>
          </p:cNvPr>
          <p:cNvSpPr>
            <a:spLocks noGrp="1"/>
          </p:cNvSpPr>
          <p:nvPr>
            <p:ph idx="1"/>
          </p:nvPr>
        </p:nvSpPr>
        <p:spPr/>
        <p:txBody>
          <a:bodyPr>
            <a:normAutofit/>
          </a:bodyPr>
          <a:lstStyle/>
          <a:p>
            <a:r>
              <a:rPr lang="ru-RU" sz="2000" b="1" dirty="0">
                <a:latin typeface="Times New Roman" panose="02020603050405020304" pitchFamily="18" charset="0"/>
                <a:cs typeface="Times New Roman" panose="02020603050405020304" pitchFamily="18" charset="0"/>
              </a:rPr>
              <a:t>Идентификационные сведения: </a:t>
            </a:r>
            <a:r>
              <a:rPr lang="ru-RU" sz="2000" dirty="0">
                <a:latin typeface="Times New Roman" panose="02020603050405020304" pitchFamily="18" charset="0"/>
                <a:cs typeface="Times New Roman" panose="02020603050405020304" pitchFamily="18" charset="0"/>
              </a:rPr>
              <a:t>ФИО, дата рождения, пол, адрес, семейное положение.</a:t>
            </a:r>
          </a:p>
          <a:p>
            <a:r>
              <a:rPr lang="ru-RU" sz="2000" b="1" dirty="0">
                <a:latin typeface="Times New Roman" panose="02020603050405020304" pitchFamily="18" charset="0"/>
                <a:cs typeface="Times New Roman" panose="02020603050405020304" pitchFamily="18" charset="0"/>
              </a:rPr>
              <a:t>Паспортные и налоговые сведения: </a:t>
            </a:r>
            <a:r>
              <a:rPr lang="ru-RU" sz="2000" dirty="0">
                <a:latin typeface="Times New Roman" panose="02020603050405020304" pitchFamily="18" charset="0"/>
                <a:cs typeface="Times New Roman" panose="02020603050405020304" pitchFamily="18" charset="0"/>
              </a:rPr>
              <a:t>серия и номер паспорта, СНИЛС, ИНН, сведения военного билета.</a:t>
            </a:r>
          </a:p>
          <a:p>
            <a:r>
              <a:rPr lang="ru-RU" sz="2000" b="1" dirty="0">
                <a:latin typeface="Times New Roman" panose="02020603050405020304" pitchFamily="18" charset="0"/>
                <a:cs typeface="Times New Roman" panose="02020603050405020304" pitchFamily="18" charset="0"/>
              </a:rPr>
              <a:t>Контактные данные: </a:t>
            </a:r>
            <a:r>
              <a:rPr lang="ru-RU" sz="2000" dirty="0">
                <a:latin typeface="Times New Roman" panose="02020603050405020304" pitchFamily="18" charset="0"/>
                <a:cs typeface="Times New Roman" panose="02020603050405020304" pitchFamily="18" charset="0"/>
              </a:rPr>
              <a:t>адресс регистрации, номер телефона, </a:t>
            </a:r>
            <a:r>
              <a:rPr lang="en-US" sz="2000" dirty="0">
                <a:latin typeface="Times New Roman" panose="02020603050405020304" pitchFamily="18" charset="0"/>
                <a:cs typeface="Times New Roman" panose="02020603050405020304" pitchFamily="18" charset="0"/>
              </a:rPr>
              <a:t>email</a:t>
            </a:r>
            <a:r>
              <a:rPr lang="ru-RU" sz="2000" dirty="0">
                <a:latin typeface="Times New Roman" panose="02020603050405020304" pitchFamily="18" charset="0"/>
                <a:cs typeface="Times New Roman" panose="02020603050405020304" pitchFamily="18" charset="0"/>
              </a:rPr>
              <a:t>.</a:t>
            </a:r>
          </a:p>
          <a:p>
            <a:r>
              <a:rPr lang="ru-RU" sz="2000" b="1" dirty="0">
                <a:latin typeface="Times New Roman" panose="02020603050405020304" pitchFamily="18" charset="0"/>
                <a:cs typeface="Times New Roman" panose="02020603050405020304" pitchFamily="18" charset="0"/>
              </a:rPr>
              <a:t>Профессиональные сведения: </a:t>
            </a:r>
            <a:r>
              <a:rPr lang="ru-RU" sz="2000" dirty="0">
                <a:latin typeface="Times New Roman" panose="02020603050405020304" pitchFamily="18" charset="0"/>
                <a:cs typeface="Times New Roman" panose="02020603050405020304" pitchFamily="18" charset="0"/>
              </a:rPr>
              <a:t>место учебы, работы, должность, профессия, уровень образования.</a:t>
            </a:r>
          </a:p>
          <a:p>
            <a:r>
              <a:rPr lang="ru-RU" sz="2000" b="1" dirty="0">
                <a:latin typeface="Times New Roman" panose="02020603050405020304" pitchFamily="18" charset="0"/>
                <a:cs typeface="Times New Roman" panose="02020603050405020304" pitchFamily="18" charset="0"/>
              </a:rPr>
              <a:t>Семейные и имущественные сведения: </a:t>
            </a:r>
            <a:r>
              <a:rPr lang="ru-RU" sz="2000" dirty="0">
                <a:latin typeface="Times New Roman" panose="02020603050405020304" pitchFamily="18" charset="0"/>
                <a:cs typeface="Times New Roman" panose="02020603050405020304" pitchFamily="18" charset="0"/>
              </a:rPr>
              <a:t>семейное положение, зарегестрированное имущество, доход.</a:t>
            </a:r>
          </a:p>
          <a:p>
            <a:r>
              <a:rPr lang="ru-RU" sz="2000" b="1" dirty="0">
                <a:latin typeface="Times New Roman" panose="02020603050405020304" pitchFamily="18" charset="0"/>
                <a:cs typeface="Times New Roman" panose="02020603050405020304" pitchFamily="18" charset="0"/>
              </a:rPr>
              <a:t>Технические сведения: </a:t>
            </a:r>
            <a:r>
              <a:rPr lang="en-US" sz="2000" dirty="0">
                <a:latin typeface="Times New Roman" panose="02020603050405020304" pitchFamily="18" charset="0"/>
                <a:cs typeface="Times New Roman" panose="02020603050405020304" pitchFamily="18" charset="0"/>
              </a:rPr>
              <a:t>coolies, IP </a:t>
            </a:r>
            <a:r>
              <a:rPr lang="ru-RU" sz="2000" dirty="0">
                <a:latin typeface="Times New Roman" panose="02020603050405020304" pitchFamily="18" charset="0"/>
                <a:cs typeface="Times New Roman" panose="02020603050405020304" pitchFamily="18" charset="0"/>
              </a:rPr>
              <a:t>адрес, устройства, данные посещений.</a:t>
            </a:r>
            <a:endParaRPr lang="ru-RU"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9066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DD6AB-D1A2-6F65-FA27-1FF97B075761}"/>
              </a:ext>
            </a:extLst>
          </p:cNvPr>
          <p:cNvSpPr>
            <a:spLocks noGrp="1"/>
          </p:cNvSpPr>
          <p:nvPr>
            <p:ph type="title"/>
          </p:nvPr>
        </p:nvSpPr>
        <p:spPr>
          <a:xfrm>
            <a:off x="838200" y="365126"/>
            <a:ext cx="10515600" cy="766558"/>
          </a:xfrm>
        </p:spPr>
        <p:txBody>
          <a:bodyPr>
            <a:normAutofit/>
          </a:bodyPr>
          <a:lstStyle/>
          <a:p>
            <a:r>
              <a:rPr lang="ru-RU" sz="3600" b="1" dirty="0">
                <a:latin typeface="Times New Roman" panose="02020603050405020304" pitchFamily="18" charset="0"/>
                <a:cs typeface="Times New Roman" panose="02020603050405020304" pitchFamily="18" charset="0"/>
              </a:rPr>
              <a:t>ФАГОУ ВО «УрФУ»</a:t>
            </a:r>
          </a:p>
        </p:txBody>
      </p:sp>
      <p:sp>
        <p:nvSpPr>
          <p:cNvPr id="3" name="Content Placeholder 2">
            <a:extLst>
              <a:ext uri="{FF2B5EF4-FFF2-40B4-BE49-F238E27FC236}">
                <a16:creationId xmlns:a16="http://schemas.microsoft.com/office/drawing/2014/main" id="{C1713599-36B8-154F-B681-8CC9A24204D3}"/>
              </a:ext>
            </a:extLst>
          </p:cNvPr>
          <p:cNvSpPr>
            <a:spLocks noGrp="1"/>
          </p:cNvSpPr>
          <p:nvPr>
            <p:ph idx="1"/>
          </p:nvPr>
        </p:nvSpPr>
        <p:spPr>
          <a:xfrm>
            <a:off x="838200" y="1231271"/>
            <a:ext cx="10515600" cy="4945692"/>
          </a:xfrm>
        </p:spPr>
        <p:txBody>
          <a:bodyPr>
            <a:normAutofit/>
          </a:bodyPr>
          <a:lstStyle/>
          <a:p>
            <a:pPr marL="0" indent="0">
              <a:buNone/>
            </a:pPr>
            <a:r>
              <a:rPr lang="ru-RU" sz="2400" b="1" dirty="0">
                <a:latin typeface="Times New Roman" panose="02020603050405020304" pitchFamily="18" charset="0"/>
                <a:cs typeface="Times New Roman" panose="02020603050405020304" pitchFamily="18" charset="0"/>
              </a:rPr>
              <a:t>Цели: </a:t>
            </a:r>
            <a:r>
              <a:rPr lang="ru-RU" sz="2400" dirty="0">
                <a:latin typeface="Times New Roman" panose="02020603050405020304" pitchFamily="18" charset="0"/>
                <a:cs typeface="Times New Roman" panose="02020603050405020304" pitchFamily="18" charset="0"/>
              </a:rPr>
              <a:t>прием на обучение в ОО по программам высшего образования. Аттестация научных и научно педагогических кадров высшей квалификации</a:t>
            </a:r>
          </a:p>
          <a:p>
            <a:pPr marL="0" indent="0">
              <a:buNone/>
            </a:pPr>
            <a:endParaRPr lang="ru-RU"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Данные: </a:t>
            </a:r>
            <a:r>
              <a:rPr lang="ru-RU" sz="2400" dirty="0">
                <a:latin typeface="Times New Roman" panose="02020603050405020304" pitchFamily="18" charset="0"/>
                <a:cs typeface="Times New Roman" panose="02020603050405020304" pitchFamily="18" charset="0"/>
              </a:rPr>
              <a:t>идентификационные, научные, контактные сведения</a:t>
            </a:r>
          </a:p>
          <a:p>
            <a:pPr marL="0" indent="0">
              <a:buNone/>
            </a:pPr>
            <a:endParaRPr lang="ru-RU" sz="2400"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Защита: </a:t>
            </a:r>
            <a:r>
              <a:rPr lang="ru-RU" sz="2400" dirty="0">
                <a:latin typeface="Times New Roman" panose="02020603050405020304" pitchFamily="18" charset="0"/>
                <a:cs typeface="Times New Roman" panose="02020603050405020304" pitchFamily="18" charset="0"/>
              </a:rPr>
              <a:t>явно указано шифрование ПД. Учет действий с ПД в сети Интернет.</a:t>
            </a:r>
          </a:p>
          <a:p>
            <a:pPr marL="0" indent="0">
              <a:buNone/>
            </a:pPr>
            <a:endParaRPr lang="ru-RU" sz="2000" b="1"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Передача: </a:t>
            </a:r>
            <a:r>
              <a:rPr lang="ru-RU" sz="2400" dirty="0">
                <a:latin typeface="Times New Roman" panose="02020603050405020304" pitchFamily="18" charset="0"/>
                <a:cs typeface="Times New Roman" panose="02020603050405020304" pitchFamily="18" charset="0"/>
              </a:rPr>
              <a:t>базы данных находятся в РФ. Передаются по сети Интернет и по внутренней сети</a:t>
            </a:r>
            <a:endParaRPr lang="ru-RU"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3205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6F029-2710-F8A6-7E02-8A5AB01810DF}"/>
              </a:ext>
            </a:extLst>
          </p:cNvPr>
          <p:cNvSpPr>
            <a:spLocks noGrp="1"/>
          </p:cNvSpPr>
          <p:nvPr>
            <p:ph type="title"/>
          </p:nvPr>
        </p:nvSpPr>
        <p:spPr>
          <a:xfrm>
            <a:off x="838200" y="365126"/>
            <a:ext cx="10515600" cy="766558"/>
          </a:xfrm>
        </p:spPr>
        <p:txBody>
          <a:bodyPr>
            <a:normAutofit/>
          </a:bodyPr>
          <a:lstStyle/>
          <a:p>
            <a:r>
              <a:rPr lang="ru-RU" sz="3600" b="1" dirty="0">
                <a:latin typeface="Times New Roman" panose="02020603050405020304" pitchFamily="18" charset="0"/>
                <a:cs typeface="Times New Roman" panose="02020603050405020304" pitchFamily="18" charset="0"/>
              </a:rPr>
              <a:t>ФАГОУ ВО «УГГУ»</a:t>
            </a:r>
          </a:p>
        </p:txBody>
      </p:sp>
      <p:sp>
        <p:nvSpPr>
          <p:cNvPr id="5" name="Content Placeholder 2">
            <a:extLst>
              <a:ext uri="{FF2B5EF4-FFF2-40B4-BE49-F238E27FC236}">
                <a16:creationId xmlns:a16="http://schemas.microsoft.com/office/drawing/2014/main" id="{7F469A78-DE17-AD64-05A8-862128D5CCAD}"/>
              </a:ext>
            </a:extLst>
          </p:cNvPr>
          <p:cNvSpPr>
            <a:spLocks noGrp="1"/>
          </p:cNvSpPr>
          <p:nvPr>
            <p:ph idx="1"/>
          </p:nvPr>
        </p:nvSpPr>
        <p:spPr>
          <a:xfrm>
            <a:off x="838200" y="1231271"/>
            <a:ext cx="10515600" cy="4945692"/>
          </a:xfrm>
        </p:spPr>
        <p:txBody>
          <a:bodyPr>
            <a:normAutofit/>
          </a:bodyPr>
          <a:lstStyle/>
          <a:p>
            <a:pPr marL="0" indent="0">
              <a:buNone/>
            </a:pPr>
            <a:r>
              <a:rPr lang="ru-RU" sz="2400" b="1" dirty="0">
                <a:latin typeface="Times New Roman" panose="02020603050405020304" pitchFamily="18" charset="0"/>
                <a:cs typeface="Times New Roman" panose="02020603050405020304" pitchFamily="18" charset="0"/>
              </a:rPr>
              <a:t>Цели: </a:t>
            </a:r>
            <a:r>
              <a:rPr lang="ru-RU" sz="2400" dirty="0">
                <a:latin typeface="Times New Roman" panose="02020603050405020304" pitchFamily="18" charset="0"/>
                <a:cs typeface="Times New Roman" panose="02020603050405020304" pitchFamily="18" charset="0"/>
              </a:rPr>
              <a:t>прием на обучение в ОО по программам высшего образования. Аттестация научных и научно педагогических кадров высшей квалификации. Кадровый учет сотрудников. Проведение проф. подготовки, стажировки.</a:t>
            </a:r>
          </a:p>
          <a:p>
            <a:pPr marL="0" indent="0">
              <a:buNone/>
            </a:pPr>
            <a:endParaRPr lang="ru-RU"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Данные: </a:t>
            </a:r>
            <a:r>
              <a:rPr lang="ru-RU" sz="2400" dirty="0">
                <a:latin typeface="Times New Roman" panose="02020603050405020304" pitchFamily="18" charset="0"/>
                <a:cs typeface="Times New Roman" panose="02020603050405020304" pitchFamily="18" charset="0"/>
              </a:rPr>
              <a:t>идентификационные, паспортные, научные сведения</a:t>
            </a:r>
          </a:p>
          <a:p>
            <a:pPr marL="0" indent="0">
              <a:buNone/>
            </a:pPr>
            <a:endParaRPr lang="ru-RU" sz="2400"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Защита: </a:t>
            </a:r>
            <a:r>
              <a:rPr lang="ru-RU" sz="2400" dirty="0">
                <a:latin typeface="Times New Roman" panose="02020603050405020304" pitchFamily="18" charset="0"/>
                <a:cs typeface="Times New Roman" panose="02020603050405020304" pitchFamily="18" charset="0"/>
              </a:rPr>
              <a:t>шифрование данных не указанно. Охрана помещений с базами ПД.</a:t>
            </a:r>
          </a:p>
          <a:p>
            <a:pPr marL="0" indent="0">
              <a:buNone/>
            </a:pPr>
            <a:endParaRPr lang="ru-RU" sz="2000" b="1"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Передача: </a:t>
            </a:r>
            <a:r>
              <a:rPr lang="ru-RU" sz="2400" dirty="0">
                <a:latin typeface="Times New Roman" panose="02020603050405020304" pitchFamily="18" charset="0"/>
                <a:cs typeface="Times New Roman" panose="02020603050405020304" pitchFamily="18" charset="0"/>
              </a:rPr>
              <a:t>базы данных находятся в РФ. Передаются только по сети Интернет</a:t>
            </a:r>
            <a:endParaRPr lang="ru-RU"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87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AA1F2-6027-7211-D018-044747157F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AC509-F660-1132-9F4D-A710097F8EA6}"/>
              </a:ext>
            </a:extLst>
          </p:cNvPr>
          <p:cNvSpPr>
            <a:spLocks noGrp="1"/>
          </p:cNvSpPr>
          <p:nvPr>
            <p:ph type="title"/>
          </p:nvPr>
        </p:nvSpPr>
        <p:spPr>
          <a:xfrm>
            <a:off x="838200" y="365126"/>
            <a:ext cx="10515600" cy="838986"/>
          </a:xfrm>
        </p:spPr>
        <p:txBody>
          <a:bodyPr>
            <a:normAutofit/>
          </a:bodyPr>
          <a:lstStyle/>
          <a:p>
            <a:r>
              <a:rPr lang="ru-RU" sz="3600" b="1" dirty="0">
                <a:latin typeface="Times New Roman" panose="02020603050405020304" pitchFamily="18" charset="0"/>
                <a:cs typeface="Times New Roman" panose="02020603050405020304" pitchFamily="18" charset="0"/>
              </a:rPr>
              <a:t>ООО «Спутник»</a:t>
            </a:r>
          </a:p>
        </p:txBody>
      </p:sp>
      <p:sp>
        <p:nvSpPr>
          <p:cNvPr id="6" name="Content Placeholder 2">
            <a:extLst>
              <a:ext uri="{FF2B5EF4-FFF2-40B4-BE49-F238E27FC236}">
                <a16:creationId xmlns:a16="http://schemas.microsoft.com/office/drawing/2014/main" id="{65FE7C0D-8332-79FA-4242-EBBAAFC6C51E}"/>
              </a:ext>
            </a:extLst>
          </p:cNvPr>
          <p:cNvSpPr>
            <a:spLocks noGrp="1"/>
          </p:cNvSpPr>
          <p:nvPr>
            <p:ph idx="1"/>
          </p:nvPr>
        </p:nvSpPr>
        <p:spPr>
          <a:xfrm>
            <a:off x="838200" y="1231271"/>
            <a:ext cx="10515600" cy="4945692"/>
          </a:xfrm>
        </p:spPr>
        <p:txBody>
          <a:bodyPr>
            <a:normAutofit/>
          </a:bodyPr>
          <a:lstStyle/>
          <a:p>
            <a:pPr marL="0" indent="0">
              <a:buNone/>
            </a:pPr>
            <a:r>
              <a:rPr lang="ru-RU" sz="2400" b="1" dirty="0">
                <a:latin typeface="Times New Roman" panose="02020603050405020304" pitchFamily="18" charset="0"/>
                <a:cs typeface="Times New Roman" panose="02020603050405020304" pitchFamily="18" charset="0"/>
              </a:rPr>
              <a:t>Цели: </a:t>
            </a:r>
            <a:r>
              <a:rPr lang="ru-RU" sz="2400" dirty="0">
                <a:latin typeface="Times New Roman" panose="02020603050405020304" pitchFamily="18" charset="0"/>
                <a:cs typeface="Times New Roman" panose="02020603050405020304" pitchFamily="18" charset="0"/>
              </a:rPr>
              <a:t>оказание туристических услуг, договорные услуги со страхователями, застрахованными выгодополучателями.</a:t>
            </a:r>
          </a:p>
          <a:p>
            <a:pPr marL="0" indent="0">
              <a:buNone/>
            </a:pPr>
            <a:endParaRPr lang="ru-RU"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Данные: </a:t>
            </a:r>
            <a:r>
              <a:rPr lang="ru-RU" sz="2400" dirty="0">
                <a:latin typeface="Times New Roman" panose="02020603050405020304" pitchFamily="18" charset="0"/>
                <a:cs typeface="Times New Roman" panose="02020603050405020304" pitchFamily="18" charset="0"/>
              </a:rPr>
              <a:t>идентификационные, паспортные сведения</a:t>
            </a:r>
          </a:p>
          <a:p>
            <a:pPr marL="0" indent="0">
              <a:buNone/>
            </a:pPr>
            <a:endParaRPr lang="ru-RU" sz="2400"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Защита: </a:t>
            </a:r>
            <a:r>
              <a:rPr lang="ru-RU" sz="2400" dirty="0">
                <a:latin typeface="Times New Roman" panose="02020603050405020304" pitchFamily="18" charset="0"/>
                <a:cs typeface="Times New Roman" panose="02020603050405020304" pitchFamily="18" charset="0"/>
              </a:rPr>
              <a:t>шифрование данных не указанно. Наличие пароля на электронных носителях. Храниение бумажных носителей в запираемых помещениях.</a:t>
            </a:r>
          </a:p>
          <a:p>
            <a:pPr marL="0" indent="0">
              <a:buNone/>
            </a:pPr>
            <a:endParaRPr lang="ru-RU" sz="2000" b="1"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Передача: </a:t>
            </a:r>
            <a:r>
              <a:rPr lang="ru-RU" sz="2400" dirty="0">
                <a:latin typeface="Times New Roman" panose="02020603050405020304" pitchFamily="18" charset="0"/>
                <a:cs typeface="Times New Roman" panose="02020603050405020304" pitchFamily="18" charset="0"/>
              </a:rPr>
              <a:t>базы данных находятся в РФ. Передаются по внутренней сети и по сети Интернет.</a:t>
            </a:r>
            <a:endParaRPr lang="ru-RU"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1970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53670-5822-6F94-FA5A-9B489882C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95829-697A-25BC-840F-5D1AC31E3645}"/>
              </a:ext>
            </a:extLst>
          </p:cNvPr>
          <p:cNvSpPr>
            <a:spLocks noGrp="1"/>
          </p:cNvSpPr>
          <p:nvPr>
            <p:ph type="title"/>
          </p:nvPr>
        </p:nvSpPr>
        <p:spPr>
          <a:xfrm>
            <a:off x="838200" y="99737"/>
            <a:ext cx="10515600" cy="1325563"/>
          </a:xfrm>
        </p:spPr>
        <p:txBody>
          <a:bodyPr>
            <a:normAutofit/>
          </a:bodyPr>
          <a:lstStyle/>
          <a:p>
            <a:r>
              <a:rPr lang="ru-RU" sz="3600" b="1" dirty="0">
                <a:latin typeface="Times New Roman" panose="02020603050405020304" pitchFamily="18" charset="0"/>
                <a:cs typeface="Times New Roman" panose="02020603050405020304" pitchFamily="18" charset="0"/>
              </a:rPr>
              <a:t>ООО «ЕЗИМ»</a:t>
            </a:r>
          </a:p>
        </p:txBody>
      </p:sp>
      <p:sp>
        <p:nvSpPr>
          <p:cNvPr id="4" name="Content Placeholder 2">
            <a:extLst>
              <a:ext uri="{FF2B5EF4-FFF2-40B4-BE49-F238E27FC236}">
                <a16:creationId xmlns:a16="http://schemas.microsoft.com/office/drawing/2014/main" id="{DE5A7EA6-20C0-E18F-891A-1C307A07B41A}"/>
              </a:ext>
            </a:extLst>
          </p:cNvPr>
          <p:cNvSpPr>
            <a:spLocks noGrp="1"/>
          </p:cNvSpPr>
          <p:nvPr>
            <p:ph idx="1"/>
          </p:nvPr>
        </p:nvSpPr>
        <p:spPr>
          <a:xfrm>
            <a:off x="838200" y="1231271"/>
            <a:ext cx="10515600" cy="4945692"/>
          </a:xfrm>
        </p:spPr>
        <p:txBody>
          <a:bodyPr>
            <a:normAutofit/>
          </a:bodyPr>
          <a:lstStyle/>
          <a:p>
            <a:pPr marL="0" indent="0">
              <a:buNone/>
            </a:pPr>
            <a:r>
              <a:rPr lang="ru-RU" sz="2400" b="1" dirty="0">
                <a:latin typeface="Times New Roman" panose="02020603050405020304" pitchFamily="18" charset="0"/>
                <a:cs typeface="Times New Roman" panose="02020603050405020304" pitchFamily="18" charset="0"/>
              </a:rPr>
              <a:t>Цели: </a:t>
            </a:r>
            <a:r>
              <a:rPr lang="ru-RU" sz="2400" dirty="0">
                <a:latin typeface="Times New Roman" panose="02020603050405020304" pitchFamily="18" charset="0"/>
                <a:cs typeface="Times New Roman" panose="02020603050405020304" pitchFamily="18" charset="0"/>
              </a:rPr>
              <a:t>ведение кадрового и бухгалтерского учета</a:t>
            </a:r>
          </a:p>
          <a:p>
            <a:pPr marL="0" indent="0">
              <a:buNone/>
            </a:pPr>
            <a:endParaRPr lang="ru-RU"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Данные: </a:t>
            </a:r>
            <a:r>
              <a:rPr lang="ru-RU" sz="2400" dirty="0">
                <a:latin typeface="Times New Roman" panose="02020603050405020304" pitchFamily="18" charset="0"/>
                <a:cs typeface="Times New Roman" panose="02020603050405020304" pitchFamily="18" charset="0"/>
              </a:rPr>
              <a:t>идентификационные, паспортные, контактные сведения</a:t>
            </a:r>
          </a:p>
          <a:p>
            <a:pPr marL="0" indent="0">
              <a:buNone/>
            </a:pPr>
            <a:endParaRPr lang="ru-RU" sz="2400"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Защита: </a:t>
            </a:r>
            <a:r>
              <a:rPr lang="ru-RU" sz="2400" dirty="0">
                <a:latin typeface="Times New Roman" panose="02020603050405020304" pitchFamily="18" charset="0"/>
                <a:cs typeface="Times New Roman" panose="02020603050405020304" pitchFamily="18" charset="0"/>
              </a:rPr>
              <a:t>явно указано шифрование ПД. Ведение и контроль бухгалтерского и налогового учета</a:t>
            </a:r>
          </a:p>
          <a:p>
            <a:pPr marL="0" indent="0">
              <a:buNone/>
            </a:pPr>
            <a:endParaRPr lang="ru-RU" sz="2000" b="1" dirty="0">
              <a:latin typeface="Times New Roman" panose="02020603050405020304" pitchFamily="18" charset="0"/>
              <a:cs typeface="Times New Roman" panose="02020603050405020304" pitchFamily="18" charset="0"/>
            </a:endParaRPr>
          </a:p>
          <a:p>
            <a:pPr marL="0" indent="0">
              <a:buNone/>
            </a:pPr>
            <a:r>
              <a:rPr lang="ru-RU" sz="2400" b="1" dirty="0">
                <a:latin typeface="Times New Roman" panose="02020603050405020304" pitchFamily="18" charset="0"/>
                <a:cs typeface="Times New Roman" panose="02020603050405020304" pitchFamily="18" charset="0"/>
              </a:rPr>
              <a:t>Передача: </a:t>
            </a:r>
            <a:r>
              <a:rPr lang="ru-RU" sz="2400" dirty="0">
                <a:latin typeface="Times New Roman" panose="02020603050405020304" pitchFamily="18" charset="0"/>
                <a:cs typeface="Times New Roman" panose="02020603050405020304" pitchFamily="18" charset="0"/>
              </a:rPr>
              <a:t>базы данных находятся в РФ. Передаются только по сети Интернет.</a:t>
            </a:r>
            <a:endParaRPr lang="ru-RU"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2415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EEB4A-A4E6-E250-958E-36A18428755A}"/>
              </a:ext>
            </a:extLst>
          </p:cNvPr>
          <p:cNvSpPr>
            <a:spLocks noGrp="1"/>
          </p:cNvSpPr>
          <p:nvPr>
            <p:ph type="title"/>
          </p:nvPr>
        </p:nvSpPr>
        <p:spPr>
          <a:xfrm>
            <a:off x="838200" y="365125"/>
            <a:ext cx="10515600" cy="685077"/>
          </a:xfrm>
        </p:spPr>
        <p:txBody>
          <a:bodyPr>
            <a:normAutofit/>
          </a:bodyPr>
          <a:lstStyle/>
          <a:p>
            <a:r>
              <a:rPr lang="ru-RU" sz="3600" b="1" dirty="0">
                <a:latin typeface="Times New Roman" panose="02020603050405020304" pitchFamily="18" charset="0"/>
                <a:cs typeface="Times New Roman" panose="02020603050405020304" pitchFamily="18" charset="0"/>
              </a:rPr>
              <a:t>Различия в заявленных мерах безопасности</a:t>
            </a:r>
          </a:p>
        </p:txBody>
      </p:sp>
      <p:graphicFrame>
        <p:nvGraphicFramePr>
          <p:cNvPr id="4" name="Table 3">
            <a:extLst>
              <a:ext uri="{FF2B5EF4-FFF2-40B4-BE49-F238E27FC236}">
                <a16:creationId xmlns:a16="http://schemas.microsoft.com/office/drawing/2014/main" id="{FCE2BAD0-3F08-EEEE-16D5-D184794E5A61}"/>
              </a:ext>
            </a:extLst>
          </p:cNvPr>
          <p:cNvGraphicFramePr>
            <a:graphicFrameLocks noGrp="1"/>
          </p:cNvGraphicFramePr>
          <p:nvPr>
            <p:extLst>
              <p:ext uri="{D42A27DB-BD31-4B8C-83A1-F6EECF244321}">
                <p14:modId xmlns:p14="http://schemas.microsoft.com/office/powerpoint/2010/main" val="669837771"/>
              </p:ext>
            </p:extLst>
          </p:nvPr>
        </p:nvGraphicFramePr>
        <p:xfrm>
          <a:off x="838200" y="1172338"/>
          <a:ext cx="10777395" cy="4984015"/>
        </p:xfrm>
        <a:graphic>
          <a:graphicData uri="http://schemas.openxmlformats.org/drawingml/2006/table">
            <a:tbl>
              <a:tblPr firstRow="1" bandRow="1">
                <a:tableStyleId>{D113A9D2-9D6B-4929-AA2D-F23B5EE8CBE7}</a:tableStyleId>
              </a:tblPr>
              <a:tblGrid>
                <a:gridCol w="3592465">
                  <a:extLst>
                    <a:ext uri="{9D8B030D-6E8A-4147-A177-3AD203B41FA5}">
                      <a16:colId xmlns:a16="http://schemas.microsoft.com/office/drawing/2014/main" val="3626667298"/>
                    </a:ext>
                  </a:extLst>
                </a:gridCol>
                <a:gridCol w="3592465">
                  <a:extLst>
                    <a:ext uri="{9D8B030D-6E8A-4147-A177-3AD203B41FA5}">
                      <a16:colId xmlns:a16="http://schemas.microsoft.com/office/drawing/2014/main" val="1347864538"/>
                    </a:ext>
                  </a:extLst>
                </a:gridCol>
                <a:gridCol w="3592465">
                  <a:extLst>
                    <a:ext uri="{9D8B030D-6E8A-4147-A177-3AD203B41FA5}">
                      <a16:colId xmlns:a16="http://schemas.microsoft.com/office/drawing/2014/main" val="1160970539"/>
                    </a:ext>
                  </a:extLst>
                </a:gridCol>
              </a:tblGrid>
              <a:tr h="996803">
                <a:tc>
                  <a:txBody>
                    <a:bodyPr/>
                    <a:lstStyle/>
                    <a:p>
                      <a:r>
                        <a:rPr lang="ru-RU" sz="2400" dirty="0">
                          <a:latin typeface="Times New Roman" panose="02020603050405020304" pitchFamily="18" charset="0"/>
                          <a:cs typeface="Times New Roman" panose="02020603050405020304" pitchFamily="18" charset="0"/>
                        </a:rPr>
                        <a:t>Организация</a:t>
                      </a:r>
                    </a:p>
                  </a:txBody>
                  <a:tcPr/>
                </a:tc>
                <a:tc>
                  <a:txBody>
                    <a:bodyPr/>
                    <a:lstStyle/>
                    <a:p>
                      <a:r>
                        <a:rPr lang="ru-RU" sz="2400" dirty="0">
                          <a:latin typeface="Times New Roman" panose="02020603050405020304" pitchFamily="18" charset="0"/>
                          <a:cs typeface="Times New Roman" panose="02020603050405020304" pitchFamily="18" charset="0"/>
                        </a:rPr>
                        <a:t>Раскрытые меры безопасности</a:t>
                      </a:r>
                    </a:p>
                  </a:txBody>
                  <a:tcPr/>
                </a:tc>
                <a:tc>
                  <a:txBody>
                    <a:bodyPr/>
                    <a:lstStyle/>
                    <a:p>
                      <a:r>
                        <a:rPr lang="ru-RU" sz="2400" dirty="0">
                          <a:latin typeface="Times New Roman" panose="02020603050405020304" pitchFamily="18" charset="0"/>
                          <a:cs typeface="Times New Roman" panose="02020603050405020304" pitchFamily="18" charset="0"/>
                        </a:rPr>
                        <a:t>Наличие шифрования</a:t>
                      </a:r>
                    </a:p>
                  </a:txBody>
                  <a:tcPr/>
                </a:tc>
                <a:extLst>
                  <a:ext uri="{0D108BD9-81ED-4DB2-BD59-A6C34878D82A}">
                    <a16:rowId xmlns:a16="http://schemas.microsoft.com/office/drawing/2014/main" val="3837066038"/>
                  </a:ext>
                </a:extLst>
              </a:tr>
              <a:tr h="996803">
                <a:tc>
                  <a:txBody>
                    <a:bodyPr/>
                    <a:lstStyle/>
                    <a:p>
                      <a:r>
                        <a:rPr lang="ru-RU" sz="2800" dirty="0">
                          <a:latin typeface="Times New Roman" panose="02020603050405020304" pitchFamily="18" charset="0"/>
                          <a:cs typeface="Times New Roman" panose="02020603050405020304" pitchFamily="18" charset="0"/>
                        </a:rPr>
                        <a:t>УрФУ</a:t>
                      </a:r>
                    </a:p>
                  </a:txBody>
                  <a:tcPr/>
                </a:tc>
                <a:tc>
                  <a:txBody>
                    <a:bodyPr/>
                    <a:lstStyle/>
                    <a:p>
                      <a:r>
                        <a:rPr lang="ru-RU" sz="1600" dirty="0">
                          <a:latin typeface="Times New Roman" panose="02020603050405020304" pitchFamily="18" charset="0"/>
                          <a:cs typeface="Times New Roman" panose="02020603050405020304" pitchFamily="18" charset="0"/>
                        </a:rPr>
                        <a:t>Назначение ответственного за обработку ПД; полный аудит ИБ ПД.</a:t>
                      </a:r>
                    </a:p>
                  </a:txBody>
                  <a:tcPr/>
                </a:tc>
                <a:tc>
                  <a:txBody>
                    <a:bodyPr/>
                    <a:lstStyle/>
                    <a:p>
                      <a:r>
                        <a:rPr lang="ru-RU" sz="2400" dirty="0">
                          <a:latin typeface="Times New Roman" panose="02020603050405020304" pitchFamily="18" charset="0"/>
                          <a:cs typeface="Times New Roman" panose="02020603050405020304" pitchFamily="18" charset="0"/>
                        </a:rPr>
                        <a:t>Заявленно в реестре</a:t>
                      </a:r>
                    </a:p>
                  </a:txBody>
                  <a:tcPr/>
                </a:tc>
                <a:extLst>
                  <a:ext uri="{0D108BD9-81ED-4DB2-BD59-A6C34878D82A}">
                    <a16:rowId xmlns:a16="http://schemas.microsoft.com/office/drawing/2014/main" val="2493485180"/>
                  </a:ext>
                </a:extLst>
              </a:tr>
              <a:tr h="996803">
                <a:tc>
                  <a:txBody>
                    <a:bodyPr/>
                    <a:lstStyle/>
                    <a:p>
                      <a:r>
                        <a:rPr lang="ru-RU" sz="2800" dirty="0">
                          <a:latin typeface="Times New Roman" panose="02020603050405020304" pitchFamily="18" charset="0"/>
                          <a:cs typeface="Times New Roman" panose="02020603050405020304" pitchFamily="18" charset="0"/>
                        </a:rPr>
                        <a:t>УГГУ</a:t>
                      </a:r>
                    </a:p>
                  </a:txBody>
                  <a:tcPr/>
                </a:tc>
                <a:tc>
                  <a:txBody>
                    <a:bodyPr/>
                    <a:lstStyle/>
                    <a:p>
                      <a:r>
                        <a:rPr lang="ru-RU" sz="1600" dirty="0">
                          <a:latin typeface="Times New Roman" panose="02020603050405020304" pitchFamily="18" charset="0"/>
                          <a:cs typeface="Times New Roman" panose="02020603050405020304" pitchFamily="18" charset="0"/>
                        </a:rPr>
                        <a:t>Разграничение прав доступа сотрудников</a:t>
                      </a:r>
                    </a:p>
                  </a:txBody>
                  <a:tcPr/>
                </a:tc>
                <a:tc>
                  <a:txBody>
                    <a:bodyPr/>
                    <a:lstStyle/>
                    <a:p>
                      <a:r>
                        <a:rPr lang="ru-RU" sz="2400" dirty="0">
                          <a:latin typeface="Times New Roman" panose="02020603050405020304" pitchFamily="18" charset="0"/>
                          <a:cs typeface="Times New Roman" panose="02020603050405020304" pitchFamily="18" charset="0"/>
                        </a:rPr>
                        <a:t>Не заявленно</a:t>
                      </a:r>
                    </a:p>
                  </a:txBody>
                  <a:tcPr/>
                </a:tc>
                <a:extLst>
                  <a:ext uri="{0D108BD9-81ED-4DB2-BD59-A6C34878D82A}">
                    <a16:rowId xmlns:a16="http://schemas.microsoft.com/office/drawing/2014/main" val="1088812115"/>
                  </a:ext>
                </a:extLst>
              </a:tr>
              <a:tr h="996803">
                <a:tc>
                  <a:txBody>
                    <a:bodyPr/>
                    <a:lstStyle/>
                    <a:p>
                      <a:r>
                        <a:rPr lang="ru-RU" sz="2800" dirty="0">
                          <a:latin typeface="Times New Roman" panose="02020603050405020304" pitchFamily="18" charset="0"/>
                          <a:cs typeface="Times New Roman" panose="02020603050405020304" pitchFamily="18" charset="0"/>
                        </a:rPr>
                        <a:t>Спутник</a:t>
                      </a:r>
                    </a:p>
                  </a:txBody>
                  <a:tcPr/>
                </a:tc>
                <a:tc>
                  <a:txBody>
                    <a:bodyPr/>
                    <a:lstStyle/>
                    <a:p>
                      <a:r>
                        <a:rPr lang="ru-RU" sz="1600" dirty="0">
                          <a:latin typeface="Times New Roman" panose="02020603050405020304" pitchFamily="18" charset="0"/>
                          <a:cs typeface="Times New Roman" panose="02020603050405020304" pitchFamily="18" charset="0"/>
                        </a:rPr>
                        <a:t>Наличие пароля на электронных носителях, хранение бумажных носителей в запираемых помещениях</a:t>
                      </a:r>
                    </a:p>
                  </a:txBody>
                  <a:tcPr/>
                </a:tc>
                <a:tc>
                  <a:txBody>
                    <a:bodyPr/>
                    <a:lstStyle/>
                    <a:p>
                      <a:r>
                        <a:rPr lang="ru-RU" sz="2400" dirty="0">
                          <a:latin typeface="Times New Roman" panose="02020603050405020304" pitchFamily="18" charset="0"/>
                          <a:cs typeface="Times New Roman" panose="02020603050405020304" pitchFamily="18" charset="0"/>
                        </a:rPr>
                        <a:t>Не заявленно</a:t>
                      </a:r>
                    </a:p>
                  </a:txBody>
                  <a:tcPr/>
                </a:tc>
                <a:extLst>
                  <a:ext uri="{0D108BD9-81ED-4DB2-BD59-A6C34878D82A}">
                    <a16:rowId xmlns:a16="http://schemas.microsoft.com/office/drawing/2014/main" val="1919420625"/>
                  </a:ext>
                </a:extLst>
              </a:tr>
              <a:tr h="996803">
                <a:tc>
                  <a:txBody>
                    <a:bodyPr/>
                    <a:lstStyle/>
                    <a:p>
                      <a:r>
                        <a:rPr lang="ru-RU" sz="2800" dirty="0">
                          <a:latin typeface="Times New Roman" panose="02020603050405020304" pitchFamily="18" charset="0"/>
                          <a:cs typeface="Times New Roman" panose="02020603050405020304" pitchFamily="18" charset="0"/>
                        </a:rPr>
                        <a:t>ЕЗИМ</a:t>
                      </a:r>
                    </a:p>
                  </a:txBody>
                  <a:tcPr/>
                </a:tc>
                <a:tc>
                  <a:txBody>
                    <a:bodyPr/>
                    <a:lstStyle/>
                    <a:p>
                      <a:r>
                        <a:rPr lang="ru-RU" sz="1600" dirty="0">
                          <a:latin typeface="Times New Roman" panose="02020603050405020304" pitchFamily="18" charset="0"/>
                          <a:cs typeface="Times New Roman" panose="02020603050405020304" pitchFamily="18" charset="0"/>
                        </a:rPr>
                        <a:t>Ведение и контроль бухгалтерского и налогового учета</a:t>
                      </a:r>
                    </a:p>
                  </a:txBody>
                  <a:tcPr/>
                </a:tc>
                <a:tc>
                  <a:txBody>
                    <a:bodyPr/>
                    <a:lstStyle/>
                    <a:p>
                      <a:r>
                        <a:rPr lang="ru-RU" sz="2400" dirty="0">
                          <a:latin typeface="Times New Roman" panose="02020603050405020304" pitchFamily="18" charset="0"/>
                          <a:cs typeface="Times New Roman" panose="02020603050405020304" pitchFamily="18" charset="0"/>
                        </a:rPr>
                        <a:t>Заявлено в реестре</a:t>
                      </a:r>
                    </a:p>
                  </a:txBody>
                  <a:tcPr/>
                </a:tc>
                <a:extLst>
                  <a:ext uri="{0D108BD9-81ED-4DB2-BD59-A6C34878D82A}">
                    <a16:rowId xmlns:a16="http://schemas.microsoft.com/office/drawing/2014/main" val="2874386968"/>
                  </a:ext>
                </a:extLst>
              </a:tr>
            </a:tbl>
          </a:graphicData>
        </a:graphic>
      </p:graphicFrame>
    </p:spTree>
    <p:extLst>
      <p:ext uri="{BB962C8B-B14F-4D97-AF65-F5344CB8AC3E}">
        <p14:creationId xmlns:p14="http://schemas.microsoft.com/office/powerpoint/2010/main" val="1570968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322BF-4738-CC45-9E20-F454C0B77E6F}"/>
              </a:ext>
            </a:extLst>
          </p:cNvPr>
          <p:cNvSpPr>
            <a:spLocks noGrp="1"/>
          </p:cNvSpPr>
          <p:nvPr>
            <p:ph type="title"/>
          </p:nvPr>
        </p:nvSpPr>
        <p:spPr/>
        <p:txBody>
          <a:bodyPr/>
          <a:lstStyle/>
          <a:p>
            <a:r>
              <a:rPr lang="ru-RU" dirty="0"/>
              <a:t>Источники</a:t>
            </a:r>
          </a:p>
        </p:txBody>
      </p:sp>
      <p:sp>
        <p:nvSpPr>
          <p:cNvPr id="3" name="Content Placeholder 2">
            <a:extLst>
              <a:ext uri="{FF2B5EF4-FFF2-40B4-BE49-F238E27FC236}">
                <a16:creationId xmlns:a16="http://schemas.microsoft.com/office/drawing/2014/main" id="{5DA784AC-0CB6-F7CB-3955-BE07431F44AD}"/>
              </a:ext>
            </a:extLst>
          </p:cNvPr>
          <p:cNvSpPr>
            <a:spLocks noGrp="1"/>
          </p:cNvSpPr>
          <p:nvPr>
            <p:ph idx="1"/>
          </p:nvPr>
        </p:nvSpPr>
        <p:spPr/>
        <p:txBody>
          <a:bodyPr/>
          <a:lstStyle/>
          <a:p>
            <a:r>
              <a:rPr lang="en-US" dirty="0">
                <a:hlinkClick r:id="rId2"/>
              </a:rPr>
              <a:t>https://pd.rkn.gov.ru/operators-registry/operators-list/?id=09-0052467</a:t>
            </a:r>
            <a:endParaRPr lang="ru-RU" dirty="0"/>
          </a:p>
          <a:p>
            <a:r>
              <a:rPr lang="en-US" dirty="0">
                <a:hlinkClick r:id="rId3"/>
              </a:rPr>
              <a:t>https://pd.rkn.gov.ru/operators-registry/operators-list/?id=10-0082707</a:t>
            </a:r>
            <a:endParaRPr lang="ru-RU" dirty="0"/>
          </a:p>
          <a:p>
            <a:r>
              <a:rPr lang="en-US" dirty="0">
                <a:hlinkClick r:id="rId4"/>
              </a:rPr>
              <a:t>https://pd.rkn.gov.ru/operators-registry/operators-list/?id=66-19-006061</a:t>
            </a:r>
            <a:endParaRPr lang="ru-RU" dirty="0"/>
          </a:p>
          <a:p>
            <a:r>
              <a:rPr lang="en-US" dirty="0">
                <a:hlinkClick r:id="rId5"/>
              </a:rPr>
              <a:t>https://pd.rkn.gov.ru/operators-registry/operators-list/?id=66-25-076763</a:t>
            </a:r>
            <a:endParaRPr lang="ru-RU" dirty="0"/>
          </a:p>
          <a:p>
            <a:endParaRPr lang="ru-RU" dirty="0"/>
          </a:p>
        </p:txBody>
      </p:sp>
    </p:spTree>
    <p:extLst>
      <p:ext uri="{BB962C8B-B14F-4D97-AF65-F5344CB8AC3E}">
        <p14:creationId xmlns:p14="http://schemas.microsoft.com/office/powerpoint/2010/main" val="1592939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221</TotalTime>
  <Words>779</Words>
  <Application>Microsoft Office PowerPoint</Application>
  <PresentationFormat>Widescreen</PresentationFormat>
  <Paragraphs>119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Times New Roman</vt:lpstr>
      <vt:lpstr>Office Theme</vt:lpstr>
      <vt:lpstr>Государственные реестры Роскомнадзора</vt:lpstr>
      <vt:lpstr>Выбранные организации (г. Екатеринбург)</vt:lpstr>
      <vt:lpstr>Проверка образовательных организаций</vt:lpstr>
      <vt:lpstr>Проверка туристической и производственной организаций</vt:lpstr>
      <vt:lpstr>Сведения об организациях</vt:lpstr>
      <vt:lpstr>Группы персональных данных:</vt:lpstr>
      <vt:lpstr>ФАГОУ ВО «УрФУ»</vt:lpstr>
      <vt:lpstr>ФАГОУ ВО «УГГУ»</vt:lpstr>
      <vt:lpstr>ООО «Спутник»</vt:lpstr>
      <vt:lpstr>ООО «ЕЗИМ»</vt:lpstr>
      <vt:lpstr>Различия в заявленных мерах безопасности</vt:lpstr>
      <vt:lpstr>Источники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Maks</dc:creator>
  <cp:lastModifiedBy>Maks</cp:lastModifiedBy>
  <cp:revision>4</cp:revision>
  <dcterms:created xsi:type="dcterms:W3CDTF">2026-10-01T13:17:20Z</dcterms:created>
  <dcterms:modified xsi:type="dcterms:W3CDTF">2026-10-01T17:15:50Z</dcterms:modified>
</cp:coreProperties>
</file>