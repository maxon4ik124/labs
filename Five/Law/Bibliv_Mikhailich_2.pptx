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4" autoAdjust="0"/>
    <p:restoredTop sz="94610"/>
  </p:normalViewPr>
  <p:slideViewPr>
    <p:cSldViewPr snapToGrid="0" snapToObjects="1">
      <p:cViewPr>
        <p:scale>
          <a:sx n="127" d="100"/>
          <a:sy n="127" d="100"/>
        </p:scale>
        <p:origin x="16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3346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1143000"/>
            <a:ext cx="9966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Требования российских НПА к веб‑сайтам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432560" y="2788920"/>
            <a:ext cx="93268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Анализ веб‑ресурса Positive Technologies: персональные данные, cookie, хранение, запрещённая информация, взаимодействие с Роскомнадзором и рекомендации.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06640" y="4709160"/>
            <a:ext cx="36576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D779B6-D04E-8401-7A59-4DB7B5C34B1E}"/>
              </a:ext>
            </a:extLst>
          </p:cNvPr>
          <p:cNvSpPr txBox="1"/>
          <p:nvPr/>
        </p:nvSpPr>
        <p:spPr>
          <a:xfrm>
            <a:off x="7695699" y="4526281"/>
            <a:ext cx="609700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Подготовили:</a:t>
            </a:r>
          </a:p>
          <a:p>
            <a:pPr algn="l"/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Михайлич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М. И.</a:t>
            </a:r>
          </a:p>
          <a:p>
            <a:pPr algn="l"/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Библив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А. И.</a:t>
            </a:r>
          </a:p>
          <a:p>
            <a:pPr algn="l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5151003/40802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20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Выбранный веб‑ресурс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234440"/>
          <a:ext cx="10561320" cy="4434843"/>
        </p:xfrm>
        <a:graphic>
          <a:graphicData uri="http://schemas.openxmlformats.org/drawingml/2006/table">
            <a:tbl>
              <a:tblPr/>
              <a:tblGrid>
                <a:gridCol w="5280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806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35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Параметр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Сведения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5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Сайт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https://ptsecurity.com/about/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5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Организация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АО «Позитив Текнолоджиз»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5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Тип сайта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Корпоративный сайт ИТ‑компании / разработчика решений по кибербезопасности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5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ИНН / ОГРН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ИНН 7718668887; ОГРН 1077761087117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35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Что анализируется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открытые страницы сайта, юридические документы, формы, cookie‑механизмы и сторонние скрипты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35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Проверка РКН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проверка оператора ПДн выполняется через портал pd.rkn.gov.ru по ИНН / названию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20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Краткое описание веб‑ресурса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515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ptsecurity.com/about/ </a:t>
            </a:r>
            <a:r>
              <a:rPr lang="ru-RU" sz="22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– </a:t>
            </a:r>
            <a:r>
              <a:rPr lang="en-US" sz="22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раздел «О компании» на сайте Positive Technologies. Сайт используется для публичного представления компании, продуктов, исследований, мероприятий, вакансий и контактов.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10561320" cy="3154680"/>
        </p:xfrm>
        <a:graphic>
          <a:graphicData uri="http://schemas.openxmlformats.org/drawingml/2006/table">
            <a:tbl>
              <a:tblPr/>
              <a:tblGrid>
                <a:gridCol w="5280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806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09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Направление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Что есть на сайте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Информационные страницы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описание компании, продуктов, исследований, новостей и мероприятий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Коммуникация с пользователем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контактные формы, заявки, подписки, регистрация на события, обращения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Юридический блок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политика обработки персональных данных, согласия, legal information, cookie / privacy документы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9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Технический контур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cookie, IP‑адрес, данные устройства, журналы сервера, возможная веб‑аналитика</a:t>
                      </a:r>
                      <a:endParaRPr lang="en-US" sz="15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20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Функции сайта и собираемые данные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097280"/>
          <a:ext cx="11064240" cy="4709160"/>
        </p:xfrm>
        <a:graphic>
          <a:graphicData uri="http://schemas.openxmlformats.org/drawingml/2006/table">
            <a:tbl>
              <a:tblPr/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4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Функция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Какие данные могут собираться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Комментарий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4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Просмотр страниц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IP‑адрес, cookie ID, user‑agent, URL, время посещения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нужны для работы сайта, безопасности и статистики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4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Форма обращения / заявки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ФИО, email, телефон, компания, должность, текст сообщения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требуется цель обработки и согласие / иное основание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4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Подписка и мероприятия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email, ФИО, организация, отметка согласия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рекламная рассылка — отдельное добровольное согласие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4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Вакансии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ФИО, контакты, резюме, опыт работы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обработка данных соискателей; важно указать срок хранения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48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Сторонние сервисы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идентификаторы cookie, метрики посещения, технические параметры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нужно проверить перечень скриптов и провайдеров</a:t>
                      </a:r>
                      <a:endParaRPr lang="en-US" sz="12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20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НПА, применимые к сайту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05840"/>
          <a:ext cx="11201400" cy="4983480"/>
        </p:xfrm>
        <a:graphic>
          <a:graphicData uri="http://schemas.openxmlformats.org/drawingml/2006/table">
            <a:tbl>
              <a:tblPr/>
              <a:tblGrid>
                <a:gridCol w="373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05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Блок сайта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Нормативная база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Что требуется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05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Сбор ФИО, email, телефона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152‑ФЗ: ст. 5, 6, 9, 18.1, 22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законная цель, согласие или другое основание, политика ПДн, уведомление РКН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05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Хранение данных граждан РФ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152‑ФЗ: ст. 18 ч. 5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первичная запись, накопление, хранение и извлечение — в базах РФ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05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Защита ИСПДн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152‑ФЗ ст. 19; ПП РФ №1119; приказ ФСТЭК №21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уровень защищённости, доступы, журналы, резервные копии, контроль уязвимостей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05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Cookie и метрика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152‑ФЗ, если cookie позволяют идентифицировать пользователя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уведомить пользователя, описать цели, дать выбор по необязательным cookie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05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Запрещённая информация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149‑ФЗ: ст. 15.1, 15.3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4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быстро удалить или ограничить доступ, зафиксировать исполнение и ответить РКН</a:t>
                      </a:r>
                      <a:endParaRPr lang="en-US" sz="114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320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Группы персональных данных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10378440" cy="489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Идентификационные сведения: ФИО, компания, должность, место работы.</a:t>
            </a:r>
            <a:endParaRPr lang="en-US" sz="2100" dirty="0"/>
          </a:p>
          <a:p>
            <a:pPr marL="0" indent="0">
              <a:buNone/>
            </a:pPr>
            <a:endParaRPr lang="en-US" sz="2100" dirty="0"/>
          </a:p>
          <a:p>
            <a:pPr marL="0" indent="0">
              <a:buNone/>
            </a:pPr>
            <a:r>
              <a:rPr lang="en-US" sz="21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Контактные данные: email, телефон, адрес для связи, аккаунт в сервисе.</a:t>
            </a:r>
            <a:endParaRPr lang="en-US" sz="2100" dirty="0"/>
          </a:p>
          <a:p>
            <a:pPr marL="0" indent="0">
              <a:buNone/>
            </a:pPr>
            <a:endParaRPr lang="en-US" sz="2100" dirty="0"/>
          </a:p>
          <a:p>
            <a:pPr marL="0" indent="0">
              <a:buNone/>
            </a:pPr>
            <a:r>
              <a:rPr lang="en-US" sz="21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Технические сведения: IP‑адрес, cookie, user‑agent, устройство, дата и время посещения, источник перехода.</a:t>
            </a:r>
            <a:endParaRPr lang="en-US" sz="2100" dirty="0"/>
          </a:p>
          <a:p>
            <a:pPr marL="0" indent="0">
              <a:buNone/>
            </a:pPr>
            <a:endParaRPr lang="en-US" sz="2100" dirty="0"/>
          </a:p>
          <a:p>
            <a:pPr marL="0" indent="0">
              <a:buNone/>
            </a:pPr>
            <a:r>
              <a:rPr lang="en-US" sz="21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Профессиональные сведения: резюме, опыт работы, навыки, сведения о вакансии.</a:t>
            </a:r>
            <a:endParaRPr lang="en-US" sz="2100" dirty="0"/>
          </a:p>
          <a:p>
            <a:pPr marL="0" indent="0">
              <a:buNone/>
            </a:pPr>
            <a:endParaRPr lang="en-US" sz="2100" dirty="0"/>
          </a:p>
          <a:p>
            <a:pPr marL="0" indent="0">
              <a:buNone/>
            </a:pPr>
            <a:r>
              <a:rPr lang="en-US" sz="21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Коммуникационные данные: текст обращения, вложенные файлы, история переписки.</a:t>
            </a:r>
            <a:endParaRPr lang="en-US" sz="2100" dirty="0"/>
          </a:p>
          <a:p>
            <a:pPr marL="0" indent="0">
              <a:buNone/>
            </a:pPr>
            <a:endParaRPr lang="en-US" sz="2100" dirty="0"/>
          </a:p>
          <a:p>
            <a:pPr marL="0" indent="0">
              <a:buNone/>
            </a:pPr>
            <a:r>
              <a:rPr lang="en-US" sz="21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Согласия и журналы: дата, время, форма согласия, версия политики, факт отзыва.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20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Формы, согласия и документы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5303520" cy="4983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9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должно быть на сайте:</a:t>
            </a:r>
            <a:endParaRPr lang="en-US" sz="1950" dirty="0"/>
          </a:p>
          <a:p>
            <a:pPr marL="0" indent="0">
              <a:buNone/>
            </a:pP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политика обработки и защиты персональных данных;</a:t>
            </a: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согласие на обработку ПДн под каждой формой;</a:t>
            </a: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отдельное согласие на рекламную рассылку и маркетинговые сообщения;</a:t>
            </a: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сведения об операторе: наименование, адрес, email для обращений;</a:t>
            </a: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порядок отзыва согласия, удаления и уточнения данных;</a:t>
            </a: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сроки хранения и категории третьих лиц / обработчиков.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6400800" y="1097280"/>
            <a:ext cx="4983480" cy="4983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9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 формулировки под формой:</a:t>
            </a:r>
            <a:endParaRPr lang="en-US" sz="1950" dirty="0"/>
          </a:p>
          <a:p>
            <a:pPr marL="0" indent="0">
              <a:buNone/>
            </a:pP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«Нажимая кнопку “Отправить”, я даю согласие АО “Позитив Текнолоджиз” на обработку моих персональных данных для ответа на обращение. С Политикой обработки персональных данных ознакомлен(а). Согласие на получение рекламной рассылки оформляется отдельной галочкой».</a:t>
            </a:r>
            <a:endParaRPr lang="en-US" sz="1950" dirty="0"/>
          </a:p>
          <a:p>
            <a:pPr marL="0" indent="0">
              <a:buNone/>
            </a:pPr>
            <a:endParaRPr lang="en-US" sz="1950" dirty="0"/>
          </a:p>
          <a:p>
            <a:pPr marL="0" indent="0">
              <a:buNone/>
            </a:pPr>
            <a:r>
              <a:rPr lang="en-US" sz="19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Важно: согласие не должно быть предзаполнено.</a:t>
            </a:r>
            <a:endParaRPr lang="en-US" sz="1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20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Cookie и веб‑аналитика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005840"/>
          <a:ext cx="10835640" cy="3246120"/>
        </p:xfrm>
        <a:graphic>
          <a:graphicData uri="http://schemas.openxmlformats.org/drawingml/2006/table">
            <a:tbl>
              <a:tblPr/>
              <a:tblGrid>
                <a:gridCol w="3611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Тип cookie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Пример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Нужно ли согласие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Необходимые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сессия, безопасность, балансировка, сохранение настроек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могут работать без отдельной галочки, но должны быть описаны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Аналитические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статистика посещений, события, источники переходов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лучше включать после согласия или дать возможность отключить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Маркетинговые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ретаргетинг, рекламные пиксели, профилирование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только по отдельному согласию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Сторонние виджеты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карты, чат, видео, соцсети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проверить передачу данных третьим лицам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68680" y="4572000"/>
            <a:ext cx="1033272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7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 баннера:</a:t>
            </a:r>
            <a:endParaRPr lang="en-US" sz="1750" dirty="0"/>
          </a:p>
          <a:p>
            <a:pPr marL="0" indent="0">
              <a:buNone/>
            </a:pP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«Мы используем cookie для работы сайта, аналитики и улучшения сервиса. Необходимые cookie работают всегда. Аналитические и маркетинговые cookie включаются только после вашего согласия. Вы можете изменить настройки в любой момент».</a:t>
            </a:r>
            <a:endParaRPr lang="en-US" sz="1750" dirty="0"/>
          </a:p>
          <a:p>
            <a:pPr marL="0" indent="0">
              <a:buNone/>
            </a:pP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Кнопки: [Принять все] [Настроить] [Только необходимые]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20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Хранение и защита персональных данных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5212080" cy="4846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Хранение: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базы персональных данных граждан РФ </a:t>
            </a:r>
            <a:r>
              <a:rPr lang="ru-RU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–</a:t>
            </a: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на территории РФ;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определить сроки хранения по каждой цели: заявка, рассылка, вакансия, договор;</a:t>
            </a:r>
            <a:endParaRPr lang="en-US" sz="2000" dirty="0"/>
          </a:p>
          <a:p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после </a:t>
            </a:r>
            <a:r>
              <a:rPr lang="en-US" sz="2000" dirty="0" err="1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достижения</a:t>
            </a: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2000" dirty="0" err="1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</a:t>
            </a:r>
            <a:r>
              <a:rPr lang="ru-RU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</a:t>
            </a: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ru-RU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–</a:t>
            </a: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удалить, обезличить или архивировать на законном основании;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вести журнал согласий, отзывов и обращений субъектов.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1143000"/>
            <a:ext cx="5029200" cy="4846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Защита: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назначить ответственного за обработку ПДн;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разграничить права доступа сотрудников;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использовать MFA для администраторов;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журналировать действия с ПДн;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резервное копирование и контроль восстановления;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регулярная проверка уязвимостей и сторонних скриптов.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20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Взаимодействие с Роскомнадзором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8484115"/>
              </p:ext>
            </p:extLst>
          </p:nvPr>
        </p:nvGraphicFramePr>
        <p:xfrm>
          <a:off x="685800" y="1051560"/>
          <a:ext cx="10835640" cy="4023360"/>
        </p:xfrm>
        <a:graphic>
          <a:graphicData uri="http://schemas.openxmlformats.org/drawingml/2006/table">
            <a:tbl>
              <a:tblPr/>
              <a:tblGrid>
                <a:gridCol w="54178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178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Ситуация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Что должен сделать владелец сайта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Обработка ПДн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направить уведомление в РКН до начала обработки, если нет исключения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Изменились сведения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обновить уведомление не позднее 15‑го числа следующего месяца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Прекращена обработка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сообщить в РКН в установленный срок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Утечка ПДн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первичное </a:t>
                      </a:r>
                      <a:r>
                        <a:rPr lang="en-US" sz="1400" dirty="0" err="1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уведомление</a:t>
                      </a: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 </a:t>
                      </a:r>
                      <a:r>
                        <a:rPr lang="ru-RU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 в течение 24 часов; результаты </a:t>
                      </a:r>
                      <a:r>
                        <a:rPr lang="en-US" sz="1400" dirty="0" err="1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расследования</a:t>
                      </a: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 </a:t>
                      </a:r>
                      <a:r>
                        <a:rPr lang="ru-RU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 в течение 72 часов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Запрещённая информация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удалить страницу / ограничить доступ, очистить кеш, направить подтверждение исполнения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68680" y="5349240"/>
            <a:ext cx="10332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РКН может направить требование или уведомление: по обработке ПДн, по внесению изменений в реестр, по инциденту, по удалению запрещённой информации.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20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Риски и пример ответа в РКН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516636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8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Риски для сайта:</a:t>
            </a:r>
            <a:endParaRPr lang="en-US" sz="1850" dirty="0"/>
          </a:p>
          <a:p>
            <a:pPr marL="0" indent="0">
              <a:buNone/>
            </a:pP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форма собирает лишние данные без понятной цели;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cookie и метрика работают без уведомления пользователя;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маркетинговая рассылка включена одной обязательной галочкой;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устаревший скрипт размещает вредоносный код;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после взлома на сайте появляется фишинговая страница;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нет ответственного и регламента ответа РКН.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126480" y="1051560"/>
            <a:ext cx="539496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3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 ответа:</a:t>
            </a:r>
            <a:endParaRPr lang="en-US" sz="1630" dirty="0"/>
          </a:p>
          <a:p>
            <a:pPr marL="0" indent="0">
              <a:buNone/>
            </a:pPr>
            <a:endParaRPr lang="en-US" sz="1630" dirty="0"/>
          </a:p>
          <a:p>
            <a:pPr marL="0" indent="0">
              <a:buNone/>
            </a:pPr>
            <a:r>
              <a:rPr lang="en-US" sz="163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«В Роскомнадзор</a:t>
            </a:r>
            <a:endParaRPr lang="en-US" sz="1630" dirty="0"/>
          </a:p>
          <a:p>
            <a:pPr marL="0" indent="0">
              <a:buNone/>
            </a:pPr>
            <a:r>
              <a:rPr lang="en-US" sz="163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 АО “Позитив Текнолоджиз”</a:t>
            </a:r>
            <a:endParaRPr lang="en-US" sz="1630" dirty="0"/>
          </a:p>
          <a:p>
            <a:pPr marL="0" indent="0">
              <a:buNone/>
            </a:pPr>
            <a:endParaRPr lang="en-US" sz="1630" dirty="0"/>
          </a:p>
          <a:p>
            <a:pPr marL="0" indent="0">
              <a:buNone/>
            </a:pPr>
            <a:r>
              <a:rPr lang="en-US" sz="163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 уведомлению № ___ от __.__.2026 сообщаем: страница URL: ___ проверена. Информация, указанная в уведомлении, удалена / доступ к ней ограничен __.__.2026 в __:__. Кеш сайта очищен, повторная проверка выполнена.</a:t>
            </a:r>
            <a:endParaRPr lang="en-US" sz="1630" dirty="0"/>
          </a:p>
          <a:p>
            <a:pPr marL="0" indent="0">
              <a:buNone/>
            </a:pPr>
            <a:endParaRPr lang="en-US" sz="1630" dirty="0"/>
          </a:p>
          <a:p>
            <a:pPr marL="0" indent="0">
              <a:buNone/>
            </a:pPr>
            <a:r>
              <a:rPr lang="en-US" sz="163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Приняты меры: заблокирован источник размещения, обновлены права доступа, назначена служебная проверка. Скриншоты исполнения прилагаются».</a:t>
            </a:r>
            <a:endParaRPr lang="en-US" sz="16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20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Источники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61320" cy="5303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7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Федеральный закон №152‑ФЗ «О персональных данных»: ст. 5, 6, 9, 18, 18.1, 19, 21, 22.</a:t>
            </a:r>
            <a:endParaRPr lang="en-US" sz="1750" dirty="0"/>
          </a:p>
          <a:p>
            <a:pPr marL="0" indent="0">
              <a:buNone/>
            </a:pP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Федеральный закон №149‑ФЗ «Об информации, информационных технологиях и о защите информации»: ст. 15.1, 15.3.</a:t>
            </a:r>
            <a:endParaRPr lang="en-US" sz="1750" dirty="0"/>
          </a:p>
          <a:p>
            <a:pPr marL="0" indent="0">
              <a:buNone/>
            </a:pP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Постановление Правительства РФ №1119: требования к защите ПДн в ИСПДн.</a:t>
            </a:r>
            <a:endParaRPr lang="en-US" sz="1750" dirty="0"/>
          </a:p>
          <a:p>
            <a:pPr marL="0" indent="0">
              <a:buNone/>
            </a:pP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Приказ ФСТЭК России №21: организационные и технические меры защиты ПДн.</a:t>
            </a:r>
            <a:endParaRPr lang="en-US" sz="1750" dirty="0"/>
          </a:p>
          <a:p>
            <a:pPr marL="0" indent="0">
              <a:buNone/>
            </a:pP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Портал персональных данных Роскомнадзора: https://pd.rkn.gov.ru/operators-registry/operators-list/</a:t>
            </a:r>
            <a:endParaRPr lang="en-US" sz="1750" dirty="0"/>
          </a:p>
          <a:p>
            <a:pPr marL="0" indent="0">
              <a:buNone/>
            </a:pP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Positive Technologies: https://ptsecurity.com/about/</a:t>
            </a:r>
            <a:endParaRPr lang="en-US" sz="1750" dirty="0"/>
          </a:p>
          <a:p>
            <a:pPr marL="0" indent="0">
              <a:buNone/>
            </a:pP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Политика обработки и защиты персональных данных: https://ptsecurity.com/legal/privacy-policy/</a:t>
            </a:r>
            <a:endParaRPr lang="en-US" sz="1750" dirty="0"/>
          </a:p>
          <a:p>
            <a:pPr marL="0" indent="0">
              <a:buNone/>
            </a:pP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Юридическая информация Positive Technologies: https://ptsecurity.com/legal/legal-information/</a:t>
            </a:r>
            <a:endParaRPr lang="en-US" sz="1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1324</Words>
  <Application>Microsoft Office PowerPoint</Application>
  <PresentationFormat>Широкоэкранный</PresentationFormat>
  <Paragraphs>192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веб-ресурса ptsecurity.com/about/</dc:title>
  <dc:subject>Вариант 7: требования российских НПА к веб-ресурсу</dc:subject>
  <dc:creator>OpenAI</dc:creator>
  <cp:lastModifiedBy>AlexandeRR ♡</cp:lastModifiedBy>
  <cp:revision>2</cp:revision>
  <dcterms:created xsi:type="dcterms:W3CDTF">2026-10-01T17:23:02Z</dcterms:created>
  <dcterms:modified xsi:type="dcterms:W3CDTF">2026-10-01T17:32:33Z</dcterms:modified>
</cp:coreProperties>
</file>