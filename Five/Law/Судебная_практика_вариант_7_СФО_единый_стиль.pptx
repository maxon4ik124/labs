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6" r:id="rId9"/>
    <p:sldId id="267" r:id="rId10"/>
    <p:sldId id="268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8A38"/>
    <a:srgbClr val="FBF2E3"/>
    <a:srgbClr val="138B8A"/>
    <a:srgbClr val="E3E0EC"/>
    <a:srgbClr val="D5D0E2"/>
    <a:srgbClr val="7462A0"/>
    <a:srgbClr val="E8F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35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udact.ru/arbitral/doc/mCA2tiuzoidK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udact.ru/arbitral/doc/mCA2tiuzoidK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udact.ru/regular/doc/KhbwKTFb2jVu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udact.ru/regular/doc/KhbwKTFb2jVu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udact.ru/regular/doc/1Y0q9stkEAlu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udact.ru/regular/doc/1Y0q9stkEAlu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udact.ru/arbitral/doc/mCA2tiuzoidK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intrans.gov.ru/transport_of_russian/5" TargetMode="External"/><Relationship Id="rId5" Type="http://schemas.openxmlformats.org/officeDocument/2006/relationships/hyperlink" Target="https://sudact.ru/regular/doc/1Y0q9stkEAlu/" TargetMode="External"/><Relationship Id="rId4" Type="http://schemas.openxmlformats.org/officeDocument/2006/relationships/hyperlink" Target="https://sudact.ru/regular/doc/KhbwKTFb2jV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oundRect">
            <a:avLst>
              <a:gd name="adj" fmla="val 64000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133333"/>
            </a:avLst>
          </a:prstGeom>
          <a:solidFill>
            <a:srgbClr val="138B8A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kern="0" spc="6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ПРАКТИЧЕСКАЯ РАБОТА  •  ВАРИАНТ 7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758952" y="1325880"/>
            <a:ext cx="10515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Особенности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судебной практики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77240" y="287121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области защиты информации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86384" y="3721608"/>
            <a:ext cx="10515600" cy="77724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1024128" y="39593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КОММЕРЧЕСКАЯ ТАЙНА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4279392" y="39593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ГОСУДАРСТВЕННАЯ ТАЙНА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7845552" y="3959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ПЕРСОНАЛЬНЫЕ ДАННЫЕ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804672" y="4818888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Сибирский федеральный округ  •  Новосибирск  •  Кызыл  •  Омск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77240" y="5888736"/>
            <a:ext cx="10698480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04672" y="608990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Подготовили: Михайлич М. И., Библив А. И.  ·  Группа 5151003/40802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 ВЫСТУПЛЕНИЯ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813816"/>
            <a:ext cx="10991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5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Три категории — три разных спора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603504" y="147218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Три решения первой инстанции из регионов Сибирского федерального округа.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85800" y="2066544"/>
            <a:ext cx="1078992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685800" y="2066544"/>
            <a:ext cx="82296" cy="1024128"/>
          </a:xfrm>
          <a:prstGeom prst="roundRect">
            <a:avLst>
              <a:gd name="adj" fmla="val 177778"/>
            </a:avLst>
          </a:prstGeom>
          <a:solidFill>
            <a:srgbClr val="138B8A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Shape 10"/>
          <p:cNvSpPr/>
          <p:nvPr/>
        </p:nvSpPr>
        <p:spPr>
          <a:xfrm>
            <a:off x="941832" y="2286000"/>
            <a:ext cx="566928" cy="548640"/>
          </a:xfrm>
          <a:prstGeom prst="roundRect">
            <a:avLst>
              <a:gd name="adj" fmla="val 26667"/>
            </a:avLst>
          </a:prstGeom>
          <a:solidFill>
            <a:srgbClr val="E8F5F3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069848" y="23591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09928" y="2240280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Коммерческая тайна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728216" y="26700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Новосибирск  ·  2019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2286000"/>
            <a:ext cx="4544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Агент передал сведения о клиенте конкуренту.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85800" y="3273552"/>
            <a:ext cx="1078992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85800" y="3273552"/>
            <a:ext cx="82296" cy="1024128"/>
          </a:xfrm>
          <a:prstGeom prst="roundRect">
            <a:avLst>
              <a:gd name="adj" fmla="val 177778"/>
            </a:avLst>
          </a:prstGeom>
          <a:solidFill>
            <a:srgbClr val="7462A0"/>
          </a:solidFill>
          <a:ln w="12700">
            <a:solidFill>
              <a:srgbClr val="7462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941832" y="3493008"/>
            <a:ext cx="566928" cy="548640"/>
          </a:xfrm>
          <a:prstGeom prst="roundRect">
            <a:avLst>
              <a:gd name="adj" fmla="val 26667"/>
            </a:avLst>
          </a:prstGeom>
          <a:solidFill>
            <a:srgbClr val="F0EDF7"/>
          </a:solidFill>
          <a:ln w="12700">
            <a:solidFill>
              <a:srgbClr val="F0ED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1069848" y="356616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09928" y="3447288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Государственная тайна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728216" y="38770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Кызыл  ·  2018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3493008"/>
            <a:ext cx="4544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Недостоверная анкета при оформлении допуска.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85800" y="4480560"/>
            <a:ext cx="1078992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85800" y="4480560"/>
            <a:ext cx="82296" cy="1024128"/>
          </a:xfrm>
          <a:prstGeom prst="roundRect">
            <a:avLst>
              <a:gd name="adj" fmla="val 177778"/>
            </a:avLst>
          </a:prstGeom>
          <a:solidFill>
            <a:srgbClr val="BE8A38"/>
          </a:solidFill>
          <a:ln w="12700">
            <a:solidFill>
              <a:srgbClr val="BE8A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941832" y="4700016"/>
            <a:ext cx="566928" cy="548640"/>
          </a:xfrm>
          <a:prstGeom prst="roundRect">
            <a:avLst>
              <a:gd name="adj" fmla="val 26667"/>
            </a:avLst>
          </a:prstGeom>
          <a:solidFill>
            <a:srgbClr val="FBF2E3"/>
          </a:solidFill>
          <a:ln w="12700">
            <a:solidFill>
              <a:srgbClr val="FBF2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1069848" y="477316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09928" y="4654296"/>
            <a:ext cx="4114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5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Персональные данные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728216" y="50840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Омск  ·  2024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4700016"/>
            <a:ext cx="45445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Обработка данных после отзыва согласия.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640080" y="5952744"/>
            <a:ext cx="10908792" cy="411480"/>
          </a:xfrm>
          <a:prstGeom prst="roundRect">
            <a:avLst>
              <a:gd name="adj" fmla="val 35556"/>
            </a:avLst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2" name="Shape 30"/>
          <p:cNvSpPr/>
          <p:nvPr/>
        </p:nvSpPr>
        <p:spPr>
          <a:xfrm>
            <a:off x="640080" y="5952744"/>
            <a:ext cx="54864" cy="411480"/>
          </a:xfrm>
          <a:prstGeom prst="roundRect">
            <a:avLst>
              <a:gd name="adj" fmla="val 266667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832104" y="5998464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каждого дела: факты → позиции сторон → мотивировка → решение суда.</a:t>
            </a:r>
            <a:endParaRPr lang="en-US" sz="13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138B8A"/>
          </a:solidFill>
          <a:ln w="12700">
            <a:solidFill>
              <a:srgbClr val="BE8A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ДЕЛО</a:t>
            </a:r>
            <a:r>
              <a:rPr lang="en-US" sz="900" b="1" kern="0" spc="100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b="1" kern="0" spc="10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ОБСТОЯТЕЛЬСТВА</a:t>
            </a:r>
            <a:endParaRPr dirty="0">
              <a:solidFill>
                <a:srgbClr val="138B8A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/>
          </a:p>
        </p:txBody>
      </p:sp>
      <p:sp>
        <p:nvSpPr>
          <p:cNvPr id="8" name="Shape 6"/>
          <p:cNvSpPr/>
          <p:nvPr/>
        </p:nvSpPr>
        <p:spPr>
          <a:xfrm>
            <a:off x="612648" y="777240"/>
            <a:ext cx="960120" cy="329184"/>
          </a:xfrm>
          <a:prstGeom prst="roundRect">
            <a:avLst>
              <a:gd name="adj" fmla="val 44444"/>
            </a:avLst>
          </a:prstGeom>
          <a:solidFill>
            <a:srgbClr val="E8F5F3"/>
          </a:solidFill>
          <a:ln w="12700">
            <a:solidFill>
              <a:srgbClr val="FBF2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04672" y="8321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dirty="0">
              <a:solidFill>
                <a:srgbClr val="138B8A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728216" y="7863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КОММЕРЧЕСКАЯ</a:t>
            </a:r>
            <a:r>
              <a:rPr lang="en-US" sz="1200" b="1" kern="0" spc="40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b="1" kern="0" spc="4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ТАЙНА</a:t>
            </a:r>
            <a:endParaRPr dirty="0">
              <a:solidFill>
                <a:srgbClr val="138B8A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03504" y="1335024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Клиентская информация у конкурента</a:t>
            </a:r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0936" y="1981200"/>
            <a:ext cx="10972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29.03.2019  ·  Арбитражный суд Новосибирской области</a:t>
            </a:r>
            <a:endParaRPr/>
          </a:p>
          <a:p>
            <a:pPr marL="0" indent="0">
              <a:buNone/>
            </a:pPr>
            <a:r>
              <a:rPr lang="en-US" sz="127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Дело № А45-47738/2018</a:t>
            </a: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94944" y="3590925"/>
            <a:ext cx="5230368" cy="22764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94944" y="3590925"/>
            <a:ext cx="5230368" cy="64008"/>
          </a:xfrm>
          <a:prstGeom prst="roundRect">
            <a:avLst>
              <a:gd name="adj" fmla="val 228571"/>
            </a:avLst>
          </a:prstGeom>
          <a:solidFill>
            <a:srgbClr val="BE8A38"/>
          </a:solidFill>
          <a:ln w="12700">
            <a:solidFill>
              <a:srgbClr val="BE8A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05256" y="3762375"/>
            <a:ext cx="48097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5" b="1" kern="0" spc="60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ИСТЕЦ</a:t>
            </a:r>
            <a:endParaRPr dirty="0"/>
          </a:p>
        </p:txBody>
      </p:sp>
      <p:sp>
        <p:nvSpPr>
          <p:cNvPr id="16" name="Text 14"/>
          <p:cNvSpPr/>
          <p:nvPr/>
        </p:nvSpPr>
        <p:spPr>
          <a:xfrm>
            <a:off x="923544" y="4114800"/>
            <a:ext cx="4773168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ООО «Функе Сибирь»: режим коммерческой тайны соблюдён. Агент передал сведения конкуренту. Требование: штраф 200 000 ₽.</a:t>
            </a: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17336" y="3590925"/>
            <a:ext cx="5230368" cy="22764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117336" y="3590925"/>
            <a:ext cx="5230368" cy="64008"/>
          </a:xfrm>
          <a:prstGeom prst="roundRect">
            <a:avLst>
              <a:gd name="adj" fmla="val 228571"/>
            </a:avLst>
          </a:prstGeom>
          <a:solidFill>
            <a:srgbClr val="138B8A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327648" y="3762375"/>
            <a:ext cx="48097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5" b="1" kern="0" spc="6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ОТВЕТЧИК</a:t>
            </a:r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45936" y="4114800"/>
            <a:ext cx="4773168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ИП: разглашение не доказано. Если суд установит нарушение, просил снизить штраф по ст. 333 ГК РФ.</a:t>
            </a:r>
            <a:endParaRPr/>
          </a:p>
        </p:txBody>
      </p:sp>
      <p:sp>
        <p:nvSpPr>
          <p:cNvPr id="23" name="Text 21"/>
          <p:cNvSpPr/>
          <p:nvPr/>
        </p:nvSpPr>
        <p:spPr>
          <a:xfrm>
            <a:off x="704850" y="2609850"/>
            <a:ext cx="108013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Фабула. Агент ООО «Функе Сибирь» получил запрос клиента на теплообменники, но направил предложение от имени конкурента. Спор возник о штрафе за разглашение клиентской информации.</a:t>
            </a:r>
            <a:endParaRPr/>
          </a:p>
        </p:txBody>
      </p:sp>
      <p:sp>
        <p:nvSpPr>
          <p:cNvPr id="24" name="Text 22">
            <a:hlinkClick r:id="rId3"/>
          </p:cNvPr>
          <p:cNvSpPr/>
          <p:nvPr/>
        </p:nvSpPr>
        <p:spPr>
          <a:xfrm>
            <a:off x="713232" y="6318504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Источник: решение от 29.03.2019, дело № А45-47738/2018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138B8A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ДЕЛО 1 · РЕШЕНИЕ</a:t>
            </a:r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/>
          </a:p>
        </p:txBody>
      </p:sp>
      <p:sp>
        <p:nvSpPr>
          <p:cNvPr id="8" name="Shape 6"/>
          <p:cNvSpPr/>
          <p:nvPr/>
        </p:nvSpPr>
        <p:spPr>
          <a:xfrm>
            <a:off x="612648" y="777240"/>
            <a:ext cx="960120" cy="329184"/>
          </a:xfrm>
          <a:prstGeom prst="roundRect">
            <a:avLst>
              <a:gd name="adj" fmla="val 44444"/>
            </a:avLst>
          </a:prstGeom>
          <a:solidFill>
            <a:srgbClr val="E8F5F3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04672" y="8321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/>
          </a:p>
        </p:txBody>
      </p:sp>
      <p:sp>
        <p:nvSpPr>
          <p:cNvPr id="10" name="Text 8"/>
          <p:cNvSpPr/>
          <p:nvPr/>
        </p:nvSpPr>
        <p:spPr>
          <a:xfrm>
            <a:off x="1728216" y="7863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КОММЕРЧЕСКАЯ ТАЙНА</a:t>
            </a:r>
            <a:endParaRPr/>
          </a:p>
        </p:txBody>
      </p:sp>
      <p:sp>
        <p:nvSpPr>
          <p:cNvPr id="11" name="Text 9"/>
          <p:cNvSpPr/>
          <p:nvPr/>
        </p:nvSpPr>
        <p:spPr>
          <a:xfrm>
            <a:off x="603504" y="1335024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Иск удовлетворён частично</a:t>
            </a:r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0936" y="19385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 взыскал штраф, но снизил его размер вдвое.</a:t>
            </a: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85800" y="2487168"/>
            <a:ext cx="5010912" cy="2688336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996696" y="2852928"/>
            <a:ext cx="43251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200 000 ₽</a:t>
            </a:r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33272" y="3694176"/>
            <a:ext cx="425196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требовал истец</a:t>
            </a:r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961888" y="2487168"/>
            <a:ext cx="5468112" cy="2688336"/>
          </a:xfrm>
          <a:prstGeom prst="roundRect">
            <a:avLst>
              <a:gd name="adj" fmla="val 5442"/>
            </a:avLst>
          </a:prstGeom>
          <a:solidFill>
            <a:srgbClr val="E8F5F3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281928" y="2852928"/>
            <a:ext cx="4855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100 000 ₽</a:t>
            </a:r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55664" y="3694176"/>
            <a:ext cx="453542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взыскал суд</a:t>
            </a:r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40080" y="5362575"/>
            <a:ext cx="10908792" cy="800100"/>
          </a:xfrm>
          <a:prstGeom prst="roundRect">
            <a:avLst>
              <a:gd name="adj" fmla="val 35556"/>
            </a:avLst>
          </a:prstGeom>
          <a:solidFill>
            <a:srgbClr val="E8F5F3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40080" y="5362575"/>
            <a:ext cx="54864" cy="800100"/>
          </a:xfrm>
          <a:prstGeom prst="roundRect">
            <a:avLst>
              <a:gd name="adj" fmla="val 266667"/>
            </a:avLst>
          </a:prstGeom>
          <a:solidFill>
            <a:srgbClr val="138B8A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32104" y="5438775"/>
            <a:ext cx="1046988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Обоснование. Переписка, договор и внутренние документы подтвердили разглашение. Суд снизил штраф по ст. 333 ГК РФ: один эпизод, убытки не установлены.</a:t>
            </a:r>
            <a:endParaRPr/>
          </a:p>
        </p:txBody>
      </p:sp>
      <p:sp>
        <p:nvSpPr>
          <p:cNvPr id="22" name="Text 20">
            <a:hlinkClick r:id="rId3"/>
          </p:cNvPr>
          <p:cNvSpPr/>
          <p:nvPr/>
        </p:nvSpPr>
        <p:spPr>
          <a:xfrm>
            <a:off x="713232" y="634593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Основания: Ст. 10, 14 Закона № 98-ФЗ, ст. 333 ГК РФ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7462A0"/>
          </a:solidFill>
          <a:ln w="12700">
            <a:solidFill>
              <a:srgbClr val="BE8A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>
              <a:solidFill>
                <a:srgbClr val="7462A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ДЕЛО 2 · ОБСТОЯТЕЛЬСТВА</a:t>
            </a:r>
            <a:endParaRPr dirty="0">
              <a:solidFill>
                <a:srgbClr val="7462A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/>
          </a:p>
        </p:txBody>
      </p:sp>
      <p:sp>
        <p:nvSpPr>
          <p:cNvPr id="8" name="Shape 6"/>
          <p:cNvSpPr/>
          <p:nvPr/>
        </p:nvSpPr>
        <p:spPr>
          <a:xfrm>
            <a:off x="612648" y="777240"/>
            <a:ext cx="960120" cy="329184"/>
          </a:xfrm>
          <a:prstGeom prst="roundRect">
            <a:avLst>
              <a:gd name="adj" fmla="val 44444"/>
            </a:avLst>
          </a:prstGeom>
          <a:solidFill>
            <a:srgbClr val="D5D0E2"/>
          </a:solidFill>
          <a:ln w="12700">
            <a:solidFill>
              <a:srgbClr val="FBF2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04672" y="8321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dirty="0">
              <a:solidFill>
                <a:srgbClr val="7462A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728216" y="7863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ГОСУДАРСТВЕННАЯ ТАЙНА</a:t>
            </a:r>
            <a:endParaRPr dirty="0">
              <a:solidFill>
                <a:srgbClr val="7462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03504" y="1335024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Анкета для допуска к гостайне</a:t>
            </a:r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0936" y="1981200"/>
            <a:ext cx="10972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05.06.2018  ·  Кызылский городской суд Республики Тыва</a:t>
            </a:r>
            <a:endParaRPr/>
          </a:p>
          <a:p>
            <a:pPr marL="0" indent="0">
              <a:buNone/>
            </a:pPr>
            <a:r>
              <a:rPr lang="en-US" sz="127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Дело № 2-1304/2018</a:t>
            </a: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94944" y="3590925"/>
            <a:ext cx="5230368" cy="22764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94944" y="3590925"/>
            <a:ext cx="5230368" cy="64008"/>
          </a:xfrm>
          <a:prstGeom prst="roundRect">
            <a:avLst>
              <a:gd name="adj" fmla="val 228571"/>
            </a:avLst>
          </a:prstGeom>
          <a:solidFill>
            <a:srgbClr val="BE8A38"/>
          </a:solidFill>
          <a:ln w="12700">
            <a:solidFill>
              <a:srgbClr val="BE8A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05256" y="3762375"/>
            <a:ext cx="48097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5" b="1" kern="0" spc="60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ИСТЕЦ</a:t>
            </a:r>
            <a:endParaRPr/>
          </a:p>
        </p:txBody>
      </p:sp>
      <p:sp>
        <p:nvSpPr>
          <p:cNvPr id="16" name="Text 14"/>
          <p:cNvSpPr/>
          <p:nvPr/>
        </p:nvSpPr>
        <p:spPr>
          <a:xfrm>
            <a:off x="923544" y="4114800"/>
            <a:ext cx="4773168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Сотрудник: реквизиты паспорта не помнил, вводить в заблуждение не намеревался. Просил отменить приказы, восстановить на работе и выплатить компенсацию.</a:t>
            </a: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17336" y="3590925"/>
            <a:ext cx="5230368" cy="22764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117336" y="3590925"/>
            <a:ext cx="5230368" cy="64008"/>
          </a:xfrm>
          <a:prstGeom prst="roundRect">
            <a:avLst>
              <a:gd name="adj" fmla="val 228571"/>
            </a:avLst>
          </a:prstGeom>
          <a:solidFill>
            <a:srgbClr val="138B8A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327648" y="3762375"/>
            <a:ext cx="48097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5" b="1" kern="0" spc="6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ОТВЕТЧИКИ</a:t>
            </a:r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45936" y="4114800"/>
            <a:ext cx="4773168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Военкоматы: в анкете недостоверные сведения. Должность требует допуска, подходящих вакансий нет. Срок оспаривания увольнения пропущен.</a:t>
            </a:r>
            <a:endParaRPr/>
          </a:p>
        </p:txBody>
      </p:sp>
      <p:sp>
        <p:nvSpPr>
          <p:cNvPr id="23" name="Text 21"/>
          <p:cNvSpPr/>
          <p:nvPr/>
        </p:nvSpPr>
        <p:spPr>
          <a:xfrm>
            <a:off x="704850" y="2609850"/>
            <a:ext cx="108013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Фабула. Сотрудник военкомата не указал имевшийся загранпаспорт в анкетах для допуска к гостайне. Допуск прекратили, затем сотрудника уволили. Он оспорил эти решения.</a:t>
            </a:r>
            <a:endParaRPr/>
          </a:p>
        </p:txBody>
      </p:sp>
      <p:sp>
        <p:nvSpPr>
          <p:cNvPr id="24" name="Text 22">
            <a:hlinkClick r:id="rId3"/>
          </p:cNvPr>
          <p:cNvSpPr/>
          <p:nvPr/>
        </p:nvSpPr>
        <p:spPr>
          <a:xfrm>
            <a:off x="713232" y="6318504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Источник: решение от 05.06.2018, дело № 2-1304/2018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7462A0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ДЕЛО 2 · РЕШЕНИЕ</a:t>
            </a:r>
            <a:endParaRPr dirty="0">
              <a:solidFill>
                <a:srgbClr val="7462A0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/>
          </a:p>
        </p:txBody>
      </p:sp>
      <p:sp>
        <p:nvSpPr>
          <p:cNvPr id="8" name="Shape 6"/>
          <p:cNvSpPr/>
          <p:nvPr/>
        </p:nvSpPr>
        <p:spPr>
          <a:xfrm>
            <a:off x="612648" y="777240"/>
            <a:ext cx="960120" cy="329184"/>
          </a:xfrm>
          <a:prstGeom prst="roundRect">
            <a:avLst>
              <a:gd name="adj" fmla="val 44444"/>
            </a:avLst>
          </a:prstGeom>
          <a:solidFill>
            <a:srgbClr val="E3E0EC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04672" y="8321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dirty="0">
              <a:solidFill>
                <a:srgbClr val="7462A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728216" y="7863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ГОСУДАРСТВЕННАЯ ТАЙНА</a:t>
            </a:r>
            <a:endParaRPr dirty="0">
              <a:solidFill>
                <a:srgbClr val="7462A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03504" y="1335024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Суд отказал в иске</a:t>
            </a:r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0936" y="19385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Приказы остались в силе. Восстановление и компенсация не присуждены.</a:t>
            </a: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13232" y="2487168"/>
            <a:ext cx="5010912" cy="2688336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996696" y="2852928"/>
            <a:ext cx="43251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Допуск</a:t>
            </a:r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33272" y="3694176"/>
            <a:ext cx="425196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прекращение признано</a:t>
            </a:r>
            <a:endParaRPr/>
          </a:p>
          <a:p>
            <a:pPr marL="0" indent="0" algn="ctr">
              <a:buNone/>
            </a:pPr>
            <a:r>
              <a:rPr lang="en-US" sz="172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правомерным</a:t>
            </a:r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961888" y="2487168"/>
            <a:ext cx="5468112" cy="2688336"/>
          </a:xfrm>
          <a:prstGeom prst="roundRect">
            <a:avLst>
              <a:gd name="adj" fmla="val 5442"/>
            </a:avLst>
          </a:prstGeom>
          <a:solidFill>
            <a:srgbClr val="E3E0EC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281928" y="2852928"/>
            <a:ext cx="4855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Отказ</a:t>
            </a:r>
            <a:endParaRPr dirty="0">
              <a:solidFill>
                <a:srgbClr val="7462A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55664" y="3694176"/>
            <a:ext cx="453542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восстановлении на работе</a:t>
            </a:r>
            <a:endParaRPr dirty="0"/>
          </a:p>
          <a:p>
            <a:pPr marL="0" indent="0" algn="ctr">
              <a:buNone/>
            </a:pPr>
            <a:r>
              <a:rPr lang="en-US" sz="1725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 компенсации</a:t>
            </a:r>
            <a:endParaRPr dirty="0"/>
          </a:p>
        </p:txBody>
      </p:sp>
      <p:sp>
        <p:nvSpPr>
          <p:cNvPr id="19" name="Shape 17"/>
          <p:cNvSpPr/>
          <p:nvPr/>
        </p:nvSpPr>
        <p:spPr>
          <a:xfrm>
            <a:off x="640080" y="5362575"/>
            <a:ext cx="10908792" cy="800100"/>
          </a:xfrm>
          <a:prstGeom prst="roundRect">
            <a:avLst>
              <a:gd name="adj" fmla="val 35556"/>
            </a:avLst>
          </a:prstGeom>
          <a:solidFill>
            <a:srgbClr val="E3E0EC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40080" y="5362575"/>
            <a:ext cx="54864" cy="800100"/>
          </a:xfrm>
          <a:prstGeom prst="roundRect">
            <a:avLst>
              <a:gd name="adj" fmla="val 266667"/>
            </a:avLst>
          </a:prstGeom>
          <a:solidFill>
            <a:srgbClr val="7462A0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32104" y="5438775"/>
            <a:ext cx="1046988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Обоснование. Причина прекращения допуска: недостоверные анкетные данные. Кроме того, истец пропустил месячный срок обращения по спору об увольнении.</a:t>
            </a:r>
            <a:endParaRPr dirty="0"/>
          </a:p>
        </p:txBody>
      </p:sp>
      <p:sp>
        <p:nvSpPr>
          <p:cNvPr id="22" name="Text 20">
            <a:hlinkClick r:id="rId3"/>
          </p:cNvPr>
          <p:cNvSpPr/>
          <p:nvPr/>
        </p:nvSpPr>
        <p:spPr>
          <a:xfrm>
            <a:off x="713232" y="634593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Основания: Закон РФ № 5485-1, ст. 22–23. ТК РФ, ст. 83, 392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BE8A38"/>
          </a:solidFill>
          <a:ln w="12700">
            <a:solidFill>
              <a:srgbClr val="BE8A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ДЕЛО 3 · ОБСТОЯТЕЛЬСТВА</a:t>
            </a:r>
            <a:endParaRPr/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/>
          </a:p>
        </p:txBody>
      </p:sp>
      <p:sp>
        <p:nvSpPr>
          <p:cNvPr id="8" name="Shape 6"/>
          <p:cNvSpPr/>
          <p:nvPr/>
        </p:nvSpPr>
        <p:spPr>
          <a:xfrm>
            <a:off x="612648" y="777240"/>
            <a:ext cx="960120" cy="329184"/>
          </a:xfrm>
          <a:prstGeom prst="roundRect">
            <a:avLst>
              <a:gd name="adj" fmla="val 44444"/>
            </a:avLst>
          </a:prstGeom>
          <a:solidFill>
            <a:srgbClr val="FBF2E3"/>
          </a:solidFill>
          <a:ln w="12700">
            <a:solidFill>
              <a:srgbClr val="FBF2E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04672" y="8321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/>
          </a:p>
        </p:txBody>
      </p:sp>
      <p:sp>
        <p:nvSpPr>
          <p:cNvPr id="10" name="Text 8"/>
          <p:cNvSpPr/>
          <p:nvPr/>
        </p:nvSpPr>
        <p:spPr>
          <a:xfrm>
            <a:off x="1728216" y="7863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ПЕРСОНАЛЬНЫЕ ДАННЫЕ</a:t>
            </a:r>
            <a:endParaRPr/>
          </a:p>
        </p:txBody>
      </p:sp>
      <p:sp>
        <p:nvSpPr>
          <p:cNvPr id="11" name="Text 9"/>
          <p:cNvSpPr/>
          <p:nvPr/>
        </p:nvSpPr>
        <p:spPr>
          <a:xfrm>
            <a:off x="603504" y="1335024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5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Обработка данных после отзыва согласия</a:t>
            </a:r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0936" y="1981200"/>
            <a:ext cx="10972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7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18.09.2024  ·  Первомайский районный суд г. Омска</a:t>
            </a:r>
            <a:endParaRPr/>
          </a:p>
          <a:p>
            <a:pPr marL="0" indent="0">
              <a:buNone/>
            </a:pPr>
            <a:r>
              <a:rPr lang="en-US" sz="127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Дело № 2-2898/2024</a:t>
            </a: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94944" y="3590925"/>
            <a:ext cx="5230368" cy="22764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694944" y="3590925"/>
            <a:ext cx="5230368" cy="64008"/>
          </a:xfrm>
          <a:prstGeom prst="roundRect">
            <a:avLst>
              <a:gd name="adj" fmla="val 228571"/>
            </a:avLst>
          </a:prstGeom>
          <a:solidFill>
            <a:srgbClr val="BE8A38"/>
          </a:solidFill>
          <a:ln w="12700">
            <a:solidFill>
              <a:srgbClr val="BE8A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905256" y="3762375"/>
            <a:ext cx="48097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5" b="1" kern="0" spc="60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ИСТЕЦ</a:t>
            </a:r>
            <a:endParaRPr/>
          </a:p>
        </p:txBody>
      </p:sp>
      <p:sp>
        <p:nvSpPr>
          <p:cNvPr id="16" name="Text 14"/>
          <p:cNvSpPr/>
          <p:nvPr/>
        </p:nvSpPr>
        <p:spPr>
          <a:xfrm>
            <a:off x="923544" y="4114800"/>
            <a:ext cx="4773168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Прекратить обработку персональных данных и выплатить компенсацию. В отношении «Лайм-Займ» также требовала удалить личный кабинет.</a:t>
            </a:r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117336" y="3590925"/>
            <a:ext cx="5230368" cy="2276475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117336" y="3590925"/>
            <a:ext cx="5230368" cy="64008"/>
          </a:xfrm>
          <a:prstGeom prst="roundRect">
            <a:avLst>
              <a:gd name="adj" fmla="val 228571"/>
            </a:avLst>
          </a:prstGeom>
          <a:solidFill>
            <a:srgbClr val="138B8A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327648" y="3762375"/>
            <a:ext cx="480974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5" b="1" kern="0" spc="60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ОТВЕТЧИКИ</a:t>
            </a:r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45936" y="4114800"/>
            <a:ext cx="4773168" cy="1571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«Лайм-Займ»: согласие получено при займе, для удаления кабинета нужна заявка. «Академическая»: согласие на обработку и рекламу существовало.</a:t>
            </a:r>
            <a:endParaRPr/>
          </a:p>
        </p:txBody>
      </p:sp>
      <p:sp>
        <p:nvSpPr>
          <p:cNvPr id="23" name="Text 21"/>
          <p:cNvSpPr/>
          <p:nvPr/>
        </p:nvSpPr>
        <p:spPr>
          <a:xfrm>
            <a:off x="704850" y="2609850"/>
            <a:ext cx="10801350" cy="790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Фабула. После отзыва согласия 09.10.2023 истица продолжала получать предложения «Лайм-Займ». Также поступали сообщения «Академической», которой, по её словам, согласия она не давала.</a:t>
            </a:r>
            <a:endParaRPr/>
          </a:p>
        </p:txBody>
      </p:sp>
      <p:sp>
        <p:nvSpPr>
          <p:cNvPr id="24" name="Text 22">
            <a:hlinkClick r:id="rId3"/>
          </p:cNvPr>
          <p:cNvSpPr/>
          <p:nvPr/>
        </p:nvSpPr>
        <p:spPr>
          <a:xfrm>
            <a:off x="713232" y="6318504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Источник: решение от 18.09.2024, дело № 2-2898/2024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BE8A38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100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ДЕЛО 3 · РЕШЕНИЕ</a:t>
            </a:r>
            <a:endParaRPr dirty="0">
              <a:solidFill>
                <a:srgbClr val="BE8A38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/>
          </a:p>
        </p:txBody>
      </p:sp>
      <p:sp>
        <p:nvSpPr>
          <p:cNvPr id="8" name="Shape 6"/>
          <p:cNvSpPr/>
          <p:nvPr/>
        </p:nvSpPr>
        <p:spPr>
          <a:xfrm>
            <a:off x="612648" y="777240"/>
            <a:ext cx="960120" cy="329184"/>
          </a:xfrm>
          <a:prstGeom prst="roundRect">
            <a:avLst>
              <a:gd name="adj" fmla="val 44444"/>
            </a:avLst>
          </a:prstGeom>
          <a:solidFill>
            <a:srgbClr val="FBF2E3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04672" y="8321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dirty="0">
              <a:solidFill>
                <a:srgbClr val="BE8A38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728216" y="7863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ПЕРСОНАЛЬНЫЕ ДАННЫЕ</a:t>
            </a:r>
            <a:endParaRPr dirty="0">
              <a:solidFill>
                <a:srgbClr val="BE8A38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03504" y="1335024"/>
            <a:ext cx="11018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Иск удовлетворён частично</a:t>
            </a:r>
            <a:endParaRPr/>
          </a:p>
        </p:txBody>
      </p:sp>
      <p:sp>
        <p:nvSpPr>
          <p:cNvPr id="12" name="Text 10"/>
          <p:cNvSpPr/>
          <p:nvPr/>
        </p:nvSpPr>
        <p:spPr>
          <a:xfrm>
            <a:off x="630936" y="19385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7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Оба ответчика обязаны прекратить обработку персональных данных.</a:t>
            </a:r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85800" y="2487168"/>
            <a:ext cx="5010912" cy="2688336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996696" y="2852928"/>
            <a:ext cx="43251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10 000 ₽</a:t>
            </a:r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33272" y="3694176"/>
            <a:ext cx="425196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моральный вред</a:t>
            </a:r>
            <a:endParaRPr/>
          </a:p>
          <a:p>
            <a:pPr marL="0" indent="0" algn="ctr">
              <a:buNone/>
            </a:pPr>
            <a:r>
              <a:rPr lang="en-US" sz="1725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 каждой компании</a:t>
            </a:r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961888" y="2487168"/>
            <a:ext cx="5468112" cy="2688336"/>
          </a:xfrm>
          <a:prstGeom prst="roundRect">
            <a:avLst>
              <a:gd name="adj" fmla="val 5442"/>
            </a:avLst>
          </a:prstGeom>
          <a:solidFill>
            <a:srgbClr val="FBF2E3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281928" y="2852928"/>
            <a:ext cx="4855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Отказ</a:t>
            </a:r>
            <a:endParaRPr dirty="0">
              <a:solidFill>
                <a:srgbClr val="BE8A38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55664" y="3694176"/>
            <a:ext cx="4535424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25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удалении кабинета</a:t>
            </a:r>
            <a:endParaRPr/>
          </a:p>
          <a:p>
            <a:pPr marL="0" indent="0" algn="ctr">
              <a:buNone/>
            </a:pPr>
            <a:r>
              <a:rPr lang="en-US" sz="1725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«Лайм-Займ»</a:t>
            </a:r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40080" y="5362575"/>
            <a:ext cx="10908792" cy="800100"/>
          </a:xfrm>
          <a:prstGeom prst="roundRect">
            <a:avLst>
              <a:gd name="adj" fmla="val 35556"/>
            </a:avLst>
          </a:prstGeom>
          <a:solidFill>
            <a:srgbClr val="FBF2E3"/>
          </a:solidFill>
          <a:ln w="12700">
            <a:solidFill>
              <a:srgbClr val="E8F5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640080" y="5362575"/>
            <a:ext cx="54864" cy="800100"/>
          </a:xfrm>
          <a:prstGeom prst="roundRect">
            <a:avLst>
              <a:gd name="adj" fmla="val 266667"/>
            </a:avLst>
          </a:prstGeom>
          <a:solidFill>
            <a:srgbClr val="BE8A38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32104" y="5438775"/>
            <a:ext cx="1046988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5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Обоснование. Отзыв согласия подтверждён, обработка продолжалась. Суд разграничил прекращение обработки данных и удаление личного кабинета.</a:t>
            </a:r>
            <a:endParaRPr/>
          </a:p>
        </p:txBody>
      </p:sp>
      <p:sp>
        <p:nvSpPr>
          <p:cNvPr id="22" name="Text 20">
            <a:hlinkClick r:id="rId3"/>
          </p:cNvPr>
          <p:cNvSpPr/>
          <p:nvPr/>
        </p:nvSpPr>
        <p:spPr>
          <a:xfrm>
            <a:off x="713232" y="6345936"/>
            <a:ext cx="10607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5" u="sng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Основания: Ст. 6, 9, 14, 17, 21 Закона № 152-ФЗ. Ст. 151, 1101 ГК РФ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ТАБЛИЦА ПО ОБРАЗЦУ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813816"/>
            <a:ext cx="10991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5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Сводный разбор трёх судебных решений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603504" y="147218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 же четыре графы, что в образце оформления отчёта.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2276856" cy="502920"/>
          </a:xfrm>
          <a:prstGeom prst="roundRect">
            <a:avLst>
              <a:gd name="adj" fmla="val 29091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731520" y="209397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ДАТА, СУД, ССЫЛКА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2953512" y="1984248"/>
            <a:ext cx="2706624" cy="502920"/>
          </a:xfrm>
          <a:prstGeom prst="roundRect">
            <a:avLst>
              <a:gd name="adj" fmla="val 29091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3044952" y="2093976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СУТЬ ДЕЛА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696712" y="1984248"/>
            <a:ext cx="2971800" cy="502920"/>
          </a:xfrm>
          <a:prstGeom prst="roundRect">
            <a:avLst>
              <a:gd name="adj" fmla="val 29091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788152" y="209397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ПОЗИЦИИ СТОРОН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8705088" y="1984248"/>
            <a:ext cx="2825496" cy="502920"/>
          </a:xfrm>
          <a:prstGeom prst="roundRect">
            <a:avLst>
              <a:gd name="adj" fmla="val 29091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796528" y="20939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 И ОБОСНОВАНИЕ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40080" y="2542032"/>
            <a:ext cx="2276856" cy="1133856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40664" y="2633472"/>
            <a:ext cx="20665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Новосибирск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Арбитражный суд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29.03.2019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А45-47738/2018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2953512" y="2542032"/>
            <a:ext cx="2706624" cy="1133856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3054096" y="2633472"/>
            <a:ext cx="249631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Агент использовал сведения о запросе клиента, направив ему предложение конкурента.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5696712" y="2542032"/>
            <a:ext cx="2971800" cy="1133856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797296" y="2633472"/>
            <a:ext cx="27614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Истец: режим тайны доказан, штраф 200 тыс. ₽.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Ответчик: разглашение не доказано; просил снизить штраф.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8705088" y="2542032"/>
            <a:ext cx="2825496" cy="1133856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8805672" y="2633472"/>
            <a:ext cx="26151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Нарушение подтверждено перепиской и локальным режимом тайны. Взыскано 100 тыс. ₽; штраф снижен как несоразмерный.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40080" y="3712464"/>
            <a:ext cx="2276856" cy="1133856"/>
          </a:xfrm>
          <a:prstGeom prst="roundRect">
            <a:avLst>
              <a:gd name="adj" fmla="val 12903"/>
            </a:avLst>
          </a:prstGeom>
          <a:solidFill>
            <a:srgbClr val="EDF2F6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40664" y="3803904"/>
            <a:ext cx="20665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Кызыл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Городской суд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05.06.2018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2-1304/2018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2953512" y="3712464"/>
            <a:ext cx="2706624" cy="1133856"/>
          </a:xfrm>
          <a:prstGeom prst="roundRect">
            <a:avLst>
              <a:gd name="adj" fmla="val 12903"/>
            </a:avLst>
          </a:prstGeom>
          <a:solidFill>
            <a:srgbClr val="EDF2F6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3054096" y="3803904"/>
            <a:ext cx="249631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 оформлении допуска к гостайне сотрудник не указал имевшийся загранпаспорт; допуск прекращён, затем увольнение.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5696712" y="3712464"/>
            <a:ext cx="2971800" cy="1133856"/>
          </a:xfrm>
          <a:prstGeom prst="roundRect">
            <a:avLst>
              <a:gd name="adj" fmla="val 12903"/>
            </a:avLst>
          </a:prstGeom>
          <a:solidFill>
            <a:srgbClr val="EDF2F6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5797296" y="3803904"/>
            <a:ext cx="27614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Истец: реквизиты забыл, увольнение незаконно.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Ответчики: сведения ложные, вакансий нет; срок обращения пропущен.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8705088" y="3712464"/>
            <a:ext cx="2825496" cy="1133856"/>
          </a:xfrm>
          <a:prstGeom prst="roundRect">
            <a:avLst>
              <a:gd name="adj" fmla="val 12903"/>
            </a:avLst>
          </a:prstGeom>
          <a:solidFill>
            <a:srgbClr val="EDF2F6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8805672" y="3803904"/>
            <a:ext cx="26151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Иск отклонён: прекращение допуска правомерно; по спору об увольнении пропущен месячный срок.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640080" y="4882896"/>
            <a:ext cx="2276856" cy="1133856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Text 33"/>
          <p:cNvSpPr/>
          <p:nvPr/>
        </p:nvSpPr>
        <p:spPr>
          <a:xfrm>
            <a:off x="740664" y="4974336"/>
            <a:ext cx="206654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Омск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Первомайский районный суд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18.09.2024</a:t>
            </a:r>
            <a:endParaRPr lang="en-US" sz="1160" dirty="0"/>
          </a:p>
          <a:p>
            <a:pPr marL="0" indent="0">
              <a:buNone/>
            </a:pPr>
            <a:r>
              <a:rPr lang="en-US" sz="116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2-2898/2024</a:t>
            </a:r>
            <a:endParaRPr lang="en-US" sz="1160" dirty="0"/>
          </a:p>
        </p:txBody>
      </p:sp>
      <p:sp>
        <p:nvSpPr>
          <p:cNvPr id="36" name="Shape 34"/>
          <p:cNvSpPr/>
          <p:nvPr/>
        </p:nvSpPr>
        <p:spPr>
          <a:xfrm>
            <a:off x="2953512" y="4882896"/>
            <a:ext cx="2706624" cy="1133856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7" name="Text 35"/>
          <p:cNvSpPr/>
          <p:nvPr/>
        </p:nvSpPr>
        <p:spPr>
          <a:xfrm>
            <a:off x="3054096" y="4974336"/>
            <a:ext cx="249631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отзыва согласия на обработку ПДн продолжали поступать сообщения о займах; отдельно — сообщения без согласия.</a:t>
            </a:r>
            <a:endParaRPr lang="en-US" sz="1160" dirty="0"/>
          </a:p>
        </p:txBody>
      </p:sp>
      <p:sp>
        <p:nvSpPr>
          <p:cNvPr id="38" name="Shape 36"/>
          <p:cNvSpPr/>
          <p:nvPr/>
        </p:nvSpPr>
        <p:spPr>
          <a:xfrm>
            <a:off x="5696712" y="4882896"/>
            <a:ext cx="2971800" cy="1133856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Text 37"/>
          <p:cNvSpPr/>
          <p:nvPr/>
        </p:nvSpPr>
        <p:spPr>
          <a:xfrm>
            <a:off x="5797296" y="4974336"/>
            <a:ext cx="27614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Истец: прекратить обработку и выплатить компенсацию.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Ответчики: первоначальные согласия существовали.</a:t>
            </a:r>
            <a:endParaRPr lang="en-US" sz="1160" dirty="0"/>
          </a:p>
        </p:txBody>
      </p:sp>
      <p:sp>
        <p:nvSpPr>
          <p:cNvPr id="40" name="Shape 38"/>
          <p:cNvSpPr/>
          <p:nvPr/>
        </p:nvSpPr>
        <p:spPr>
          <a:xfrm>
            <a:off x="8705088" y="4882896"/>
            <a:ext cx="2825496" cy="1133856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8805672" y="4974336"/>
            <a:ext cx="261518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6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Обоим ответчикам предписано прекратить обработку; по 10 тыс. ₽ морального вреда. В удалении кабинета отказано.</a:t>
            </a:r>
            <a:endParaRPr lang="en-US" sz="1160" dirty="0"/>
          </a:p>
        </p:txBody>
      </p:sp>
      <p:sp>
        <p:nvSpPr>
          <p:cNvPr id="42" name="Text 40"/>
          <p:cNvSpPr/>
          <p:nvPr/>
        </p:nvSpPr>
        <p:spPr>
          <a:xfrm>
            <a:off x="713232" y="6163056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Полные тексты решений и расширенная таблица приведены в приложенном отчёте.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ВЫВОДЫ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813816"/>
            <a:ext cx="10991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5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показывает судебная практика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603504" y="147218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Одинаковая цель — защита информации; разные юридические механизмы.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94944" y="2011680"/>
            <a:ext cx="10817352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694944" y="2011680"/>
            <a:ext cx="82296" cy="1024128"/>
          </a:xfrm>
          <a:prstGeom prst="roundRect">
            <a:avLst>
              <a:gd name="adj" fmla="val 177778"/>
            </a:avLst>
          </a:prstGeom>
          <a:solidFill>
            <a:srgbClr val="138B8A"/>
          </a:solidFill>
          <a:ln w="12700">
            <a:solidFill>
              <a:srgbClr val="138B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23544" y="2194560"/>
            <a:ext cx="576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636776" y="2157984"/>
            <a:ext cx="3044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6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Коммерческая тайна</a:t>
            </a:r>
            <a:endParaRPr lang="en-US" sz="2060" dirty="0"/>
          </a:p>
        </p:txBody>
      </p:sp>
      <p:sp>
        <p:nvSpPr>
          <p:cNvPr id="14" name="Text 12"/>
          <p:cNvSpPr/>
          <p:nvPr/>
        </p:nvSpPr>
        <p:spPr>
          <a:xfrm>
            <a:off x="4599432" y="2185416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Недостаточно назвать сведения секретными — нужно установить режим и доказать факт нарушения.</a:t>
            </a:r>
            <a:endParaRPr lang="en-US" sz="1580" dirty="0"/>
          </a:p>
        </p:txBody>
      </p:sp>
      <p:sp>
        <p:nvSpPr>
          <p:cNvPr id="15" name="Shape 13"/>
          <p:cNvSpPr/>
          <p:nvPr/>
        </p:nvSpPr>
        <p:spPr>
          <a:xfrm>
            <a:off x="694944" y="3227832"/>
            <a:ext cx="10817352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94944" y="3227832"/>
            <a:ext cx="82296" cy="1024128"/>
          </a:xfrm>
          <a:prstGeom prst="roundRect">
            <a:avLst>
              <a:gd name="adj" fmla="val 177778"/>
            </a:avLst>
          </a:prstGeom>
          <a:solidFill>
            <a:srgbClr val="7462A0"/>
          </a:solidFill>
          <a:ln w="12700">
            <a:solidFill>
              <a:srgbClr val="7462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>
              <a:solidFill>
                <a:srgbClr val="7462A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3544" y="3410712"/>
            <a:ext cx="576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636776" y="3374136"/>
            <a:ext cx="3044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6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Государственная тайна</a:t>
            </a:r>
            <a:endParaRPr lang="en-US" sz="2060" dirty="0"/>
          </a:p>
        </p:txBody>
      </p:sp>
      <p:sp>
        <p:nvSpPr>
          <p:cNvPr id="19" name="Text 17"/>
          <p:cNvSpPr/>
          <p:nvPr/>
        </p:nvSpPr>
        <p:spPr>
          <a:xfrm>
            <a:off x="4599432" y="3401568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Критичны достоверность сведений для допуска и соблюдение процедур трудового спора.</a:t>
            </a:r>
            <a:endParaRPr lang="en-US" sz="1580" dirty="0"/>
          </a:p>
        </p:txBody>
      </p:sp>
      <p:sp>
        <p:nvSpPr>
          <p:cNvPr id="20" name="Shape 18"/>
          <p:cNvSpPr/>
          <p:nvPr/>
        </p:nvSpPr>
        <p:spPr>
          <a:xfrm>
            <a:off x="694944" y="4443984"/>
            <a:ext cx="10817352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694944" y="4443984"/>
            <a:ext cx="82296" cy="1024128"/>
          </a:xfrm>
          <a:prstGeom prst="roundRect">
            <a:avLst>
              <a:gd name="adj" fmla="val 177778"/>
            </a:avLst>
          </a:prstGeom>
          <a:solidFill>
            <a:srgbClr val="BE8A38"/>
          </a:solidFill>
          <a:ln w="12700">
            <a:solidFill>
              <a:srgbClr val="BE8A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923544" y="4626864"/>
            <a:ext cx="576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636776" y="4590288"/>
            <a:ext cx="30449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6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Персональные данные</a:t>
            </a:r>
            <a:endParaRPr lang="en-US" sz="2060" dirty="0"/>
          </a:p>
        </p:txBody>
      </p:sp>
      <p:sp>
        <p:nvSpPr>
          <p:cNvPr id="24" name="Text 22"/>
          <p:cNvSpPr/>
          <p:nvPr/>
        </p:nvSpPr>
        <p:spPr>
          <a:xfrm>
            <a:off x="4599432" y="4617720"/>
            <a:ext cx="64922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Отзыв согласия требует правовой реакции оператора; прекращение обработки и удаление кабинета не тождественны.</a:t>
            </a:r>
            <a:endParaRPr lang="en-US" sz="1580" dirty="0"/>
          </a:p>
        </p:txBody>
      </p:sp>
      <p:sp>
        <p:nvSpPr>
          <p:cNvPr id="25" name="Shape 23"/>
          <p:cNvSpPr/>
          <p:nvPr/>
        </p:nvSpPr>
        <p:spPr>
          <a:xfrm>
            <a:off x="640080" y="5943600"/>
            <a:ext cx="10908792" cy="411480"/>
          </a:xfrm>
          <a:prstGeom prst="roundRect">
            <a:avLst>
              <a:gd name="adj" fmla="val 35556"/>
            </a:avLst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640080" y="5943600"/>
            <a:ext cx="54864" cy="411480"/>
          </a:xfrm>
          <a:prstGeom prst="roundRect">
            <a:avLst>
              <a:gd name="adj" fmla="val 266667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832104" y="5989320"/>
            <a:ext cx="10469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40" b="1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Сильный разбор дела = факт + позиция каждой стороны + проверяемое основание вывода суда.</a:t>
            </a:r>
            <a:endParaRPr lang="en-US" sz="13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oundRect">
            <a:avLst>
              <a:gd name="adj" fmla="val 145455"/>
            </a:avLst>
          </a:prstGeom>
          <a:solidFill>
            <a:srgbClr val="182A41"/>
          </a:solidFill>
          <a:ln w="12700">
            <a:solidFill>
              <a:srgbClr val="182A4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94360" y="274320"/>
            <a:ext cx="5486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СУДЕБНАЯ ПРАКТИКА  /  ВАРИАНТ 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595360" y="274320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ИСТОЧНИКИ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492240"/>
            <a:ext cx="11009376" cy="0"/>
          </a:xfrm>
          <a:prstGeom prst="line">
            <a:avLst/>
          </a:prstGeom>
          <a:noFill/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94360" y="6547104"/>
            <a:ext cx="6400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СФО  •  3 решения судов первой инстанции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927080" y="6510528"/>
            <a:ext cx="667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82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813816"/>
            <a:ext cx="10991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50" b="1" dirty="0">
                <a:solidFill>
                  <a:srgbClr val="182A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Источники судебных решений</a:t>
            </a:r>
            <a:endParaRPr lang="en-US" sz="3050" dirty="0"/>
          </a:p>
        </p:txBody>
      </p:sp>
      <p:sp>
        <p:nvSpPr>
          <p:cNvPr id="9" name="Text 7"/>
          <p:cNvSpPr/>
          <p:nvPr/>
        </p:nvSpPr>
        <p:spPr>
          <a:xfrm>
            <a:off x="603504" y="1472184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Все три документа — акты судов первой инстанции; ссылки открываются по нажатию.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0664" y="2039112"/>
            <a:ext cx="1072591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969264" y="224942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91056" y="2194560"/>
            <a:ext cx="9006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КОММЕРЧЕСКАЯ ТАЙНА</a:t>
            </a:r>
            <a:endParaRPr lang="en-US" sz="11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1591056" y="2487168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u="sng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Арбитражный суд Новосибирской области  ·  № А45-47738/2018</a:t>
            </a:r>
            <a:endParaRPr lang="en-US" sz="1480" dirty="0"/>
          </a:p>
        </p:txBody>
      </p:sp>
      <p:sp>
        <p:nvSpPr>
          <p:cNvPr id="14" name="Text 12">
            <a:hlinkClick r:id="rId3"/>
          </p:cNvPr>
          <p:cNvSpPr/>
          <p:nvPr/>
        </p:nvSpPr>
        <p:spPr>
          <a:xfrm>
            <a:off x="10853928" y="2240280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u="sng" dirty="0">
                <a:solidFill>
                  <a:srgbClr val="138B8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40664" y="3072384"/>
            <a:ext cx="1072591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969264" y="328269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91056" y="3227832"/>
            <a:ext cx="9006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ГОСУДАРСТВЕННАЯ ТАЙНА</a:t>
            </a:r>
            <a:endParaRPr lang="en-US" sz="1100" dirty="0"/>
          </a:p>
        </p:txBody>
      </p:sp>
      <p:sp>
        <p:nvSpPr>
          <p:cNvPr id="18" name="Text 16">
            <a:hlinkClick r:id="rId4"/>
          </p:cNvPr>
          <p:cNvSpPr/>
          <p:nvPr/>
        </p:nvSpPr>
        <p:spPr>
          <a:xfrm>
            <a:off x="1591056" y="352044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u="sng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Кызылский городской суд  ·  № 2-1304/2018</a:t>
            </a:r>
            <a:endParaRPr lang="en-US" sz="1480" dirty="0"/>
          </a:p>
        </p:txBody>
      </p:sp>
      <p:sp>
        <p:nvSpPr>
          <p:cNvPr id="19" name="Text 17">
            <a:hlinkClick r:id="rId4"/>
          </p:cNvPr>
          <p:cNvSpPr/>
          <p:nvPr/>
        </p:nvSpPr>
        <p:spPr>
          <a:xfrm>
            <a:off x="10853928" y="327355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u="sng" dirty="0">
                <a:solidFill>
                  <a:srgbClr val="7462A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2300" dirty="0"/>
          </a:p>
        </p:txBody>
      </p:sp>
      <p:sp>
        <p:nvSpPr>
          <p:cNvPr id="20" name="Shape 18"/>
          <p:cNvSpPr/>
          <p:nvPr/>
        </p:nvSpPr>
        <p:spPr>
          <a:xfrm>
            <a:off x="740664" y="4105656"/>
            <a:ext cx="10725912" cy="87782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9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969264" y="431596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91056" y="4261104"/>
            <a:ext cx="9006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ПЕРСОНАЛЬНЫЕ ДАННЫЕ</a:t>
            </a:r>
            <a:endParaRPr lang="en-US" sz="1100" dirty="0"/>
          </a:p>
        </p:txBody>
      </p:sp>
      <p:sp>
        <p:nvSpPr>
          <p:cNvPr id="23" name="Text 21">
            <a:hlinkClick r:id="rId5"/>
          </p:cNvPr>
          <p:cNvSpPr/>
          <p:nvPr/>
        </p:nvSpPr>
        <p:spPr>
          <a:xfrm>
            <a:off x="1591056" y="4553712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u="sng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Первомайский районный суд г. Омска  ·  № 2-2898/2024</a:t>
            </a:r>
            <a:endParaRPr lang="en-US" sz="1480" dirty="0"/>
          </a:p>
        </p:txBody>
      </p:sp>
      <p:sp>
        <p:nvSpPr>
          <p:cNvPr id="24" name="Text 22">
            <a:hlinkClick r:id="rId5"/>
          </p:cNvPr>
          <p:cNvSpPr/>
          <p:nvPr/>
        </p:nvSpPr>
        <p:spPr>
          <a:xfrm>
            <a:off x="10853928" y="4306824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u="sng" dirty="0">
                <a:solidFill>
                  <a:srgbClr val="BE8A38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</a:t>
            </a:r>
            <a:endParaRPr lang="en-US" sz="2300" dirty="0"/>
          </a:p>
        </p:txBody>
      </p:sp>
      <p:sp>
        <p:nvSpPr>
          <p:cNvPr id="25" name="Text 23">
            <a:hlinkClick r:id="rId6"/>
          </p:cNvPr>
          <p:cNvSpPr/>
          <p:nvPr/>
        </p:nvSpPr>
        <p:spPr>
          <a:xfrm>
            <a:off x="777240" y="5303520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30" u="sng" dirty="0">
                <a:solidFill>
                  <a:srgbClr val="26374A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Региональная принадлежность: Минтранс России, «Сибирский федеральный округ».</a:t>
            </a:r>
            <a:endParaRPr lang="en-US" sz="1330" dirty="0"/>
          </a:p>
        </p:txBody>
      </p:sp>
      <p:sp>
        <p:nvSpPr>
          <p:cNvPr id="26" name="Shape 24"/>
          <p:cNvSpPr/>
          <p:nvPr/>
        </p:nvSpPr>
        <p:spPr>
          <a:xfrm>
            <a:off x="740664" y="5687568"/>
            <a:ext cx="10716768" cy="521208"/>
          </a:xfrm>
          <a:prstGeom prst="roundRect">
            <a:avLst>
              <a:gd name="adj" fmla="val 28070"/>
            </a:avLst>
          </a:prstGeom>
          <a:solidFill>
            <a:srgbClr val="EEF2F6"/>
          </a:solidFill>
          <a:ln w="12700">
            <a:solidFill>
              <a:srgbClr val="EEF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932688" y="5779008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30" dirty="0">
                <a:solidFill>
                  <a:srgbClr val="6879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Даты на слайдах взяты из текстов решений; заголовки базы «СудАкт» могут отличаться на один день.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1166</Words>
  <Application>Microsoft Office PowerPoint</Application>
  <PresentationFormat>Widescreen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Особенности судебной практики в области защиты информации — вариант 7</dc:title>
  <dc:subject>Судебная практика по защите информации. Вариант 7. Сибирский федеральный округ.</dc:subject>
  <dc:creator/>
  <cp:lastModifiedBy>Maks</cp:lastModifiedBy>
  <cp:revision>3</cp:revision>
  <dcterms:created xsi:type="dcterms:W3CDTF">2026-10-29T17:31:18Z</dcterms:created>
  <dcterms:modified xsi:type="dcterms:W3CDTF">2026-10-29T19:42:03Z</dcterms:modified>
</cp:coreProperties>
</file>